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303" r:id="rId2"/>
    <p:sldId id="302" r:id="rId3"/>
    <p:sldId id="304" r:id="rId4"/>
    <p:sldId id="271" r:id="rId5"/>
    <p:sldId id="272" r:id="rId6"/>
    <p:sldId id="285" r:id="rId7"/>
    <p:sldId id="281" r:id="rId8"/>
    <p:sldId id="264" r:id="rId9"/>
    <p:sldId id="266" r:id="rId10"/>
    <p:sldId id="267" r:id="rId11"/>
    <p:sldId id="286" r:id="rId12"/>
    <p:sldId id="280" r:id="rId13"/>
    <p:sldId id="287" r:id="rId14"/>
    <p:sldId id="279" r:id="rId15"/>
    <p:sldId id="313" r:id="rId16"/>
    <p:sldId id="315" r:id="rId17"/>
    <p:sldId id="314" r:id="rId18"/>
    <p:sldId id="316" r:id="rId19"/>
    <p:sldId id="317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8" r:id="rId29"/>
    <p:sldId id="319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1" r:id="rId41"/>
    <p:sldId id="330" r:id="rId42"/>
    <p:sldId id="332" r:id="rId43"/>
    <p:sldId id="333" r:id="rId44"/>
    <p:sldId id="334" r:id="rId45"/>
    <p:sldId id="289" r:id="rId46"/>
    <p:sldId id="343" r:id="rId47"/>
    <p:sldId id="344" r:id="rId48"/>
    <p:sldId id="345" r:id="rId49"/>
    <p:sldId id="346" r:id="rId50"/>
    <p:sldId id="347" r:id="rId51"/>
    <p:sldId id="348" r:id="rId52"/>
    <p:sldId id="300" r:id="rId53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8" autoAdjust="0"/>
    <p:restoredTop sz="86490" autoAdjust="0"/>
  </p:normalViewPr>
  <p:slideViewPr>
    <p:cSldViewPr>
      <p:cViewPr varScale="1">
        <p:scale>
          <a:sx n="138" d="100"/>
          <a:sy n="138" d="100"/>
        </p:scale>
        <p:origin x="1786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8FBB3-6BE4-42D6-84AE-ABD0F5739873}" type="datetimeFigureOut">
              <a:rPr lang="en-SG" smtClean="0"/>
              <a:t>21/5/2025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C08817-E467-49C2-A01B-8526CAD768C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88098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State: </a:t>
            </a:r>
            <a:r>
              <a:rPr lang="en-US" sz="2400" dirty="0">
                <a:solidFill>
                  <a:srgbClr val="FFFFFF"/>
                </a:solidFill>
                <a:effectLst/>
              </a:rPr>
              <a:t>Factor indicating state.</a:t>
            </a:r>
          </a:p>
          <a:p>
            <a:r>
              <a:rPr lang="en-US" sz="2400" dirty="0"/>
              <a:t>Year: </a:t>
            </a:r>
            <a:r>
              <a:rPr lang="en-US" sz="2400" dirty="0">
                <a:solidFill>
                  <a:srgbClr val="FFFFFF"/>
                </a:solidFill>
                <a:effectLst/>
              </a:rPr>
              <a:t>Factor indicating year.</a:t>
            </a:r>
          </a:p>
          <a:p>
            <a:r>
              <a:rPr lang="en-US" sz="2400" dirty="0"/>
              <a:t>Cpi: </a:t>
            </a:r>
            <a:r>
              <a:rPr lang="en-US" sz="2400" dirty="0">
                <a:solidFill>
                  <a:srgbClr val="FFFFFF"/>
                </a:solidFill>
                <a:effectLst/>
              </a:rPr>
              <a:t>Consumer price index.</a:t>
            </a:r>
          </a:p>
          <a:p>
            <a:r>
              <a:rPr lang="en-US" sz="2400" dirty="0"/>
              <a:t>Population: </a:t>
            </a:r>
            <a:r>
              <a:rPr lang="en-US" sz="2400" dirty="0">
                <a:solidFill>
                  <a:srgbClr val="FFFFFF"/>
                </a:solidFill>
                <a:effectLst/>
              </a:rPr>
              <a:t>State population.</a:t>
            </a:r>
          </a:p>
          <a:p>
            <a:r>
              <a:rPr lang="en-US" sz="2400" dirty="0"/>
              <a:t>Packs: </a:t>
            </a:r>
            <a:r>
              <a:rPr lang="en-US" sz="2400" dirty="0">
                <a:solidFill>
                  <a:srgbClr val="FFFFFF"/>
                </a:solidFill>
                <a:effectLst/>
              </a:rPr>
              <a:t>Number of packs per capita.</a:t>
            </a:r>
          </a:p>
          <a:p>
            <a:r>
              <a:rPr lang="en-US" sz="2400" dirty="0"/>
              <a:t>Income: </a:t>
            </a:r>
            <a:r>
              <a:rPr lang="en-US" sz="2400" dirty="0">
                <a:solidFill>
                  <a:srgbClr val="FFFFFF"/>
                </a:solidFill>
                <a:effectLst/>
              </a:rPr>
              <a:t>State personal income (total, nominal).</a:t>
            </a:r>
          </a:p>
          <a:p>
            <a:r>
              <a:rPr lang="en-US" sz="2400" dirty="0"/>
              <a:t>Tax: </a:t>
            </a:r>
            <a:r>
              <a:rPr lang="en-US" sz="2400" dirty="0">
                <a:solidFill>
                  <a:srgbClr val="FFFFFF"/>
                </a:solidFill>
                <a:effectLst/>
              </a:rPr>
              <a:t>Average state, federal and average local excise taxes for fiscal year.</a:t>
            </a:r>
          </a:p>
          <a:p>
            <a:r>
              <a:rPr lang="en-US" sz="2400" dirty="0"/>
              <a:t>Price: </a:t>
            </a:r>
            <a:r>
              <a:rPr lang="en-US" sz="2400" dirty="0">
                <a:solidFill>
                  <a:srgbClr val="FFFFFF"/>
                </a:solidFill>
                <a:effectLst/>
              </a:rPr>
              <a:t>Average price during fiscal year, including sales tax.</a:t>
            </a:r>
          </a:p>
          <a:p>
            <a:r>
              <a:rPr lang="en-US" sz="2400" dirty="0" err="1"/>
              <a:t>Taxs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FFFFFF"/>
                </a:solidFill>
                <a:effectLst/>
              </a:rPr>
              <a:t>Average excise taxes for fiscal year, including sales tax.</a:t>
            </a:r>
          </a:p>
          <a:p>
            <a:endParaRPr lang="en-US" sz="2400" dirty="0">
              <a:solidFill>
                <a:srgbClr val="FFFFFF"/>
              </a:solidFill>
              <a:effectLst/>
            </a:endParaRPr>
          </a:p>
          <a:p>
            <a:r>
              <a:rPr lang="en-US" sz="2400" dirty="0">
                <a:solidFill>
                  <a:srgbClr val="FFFFFF"/>
                </a:solidFill>
                <a:effectLst/>
              </a:rPr>
              <a:t># compute real per capita prices</a:t>
            </a:r>
          </a:p>
          <a:p>
            <a:r>
              <a:rPr lang="en-US" sz="2400" dirty="0" err="1">
                <a:solidFill>
                  <a:srgbClr val="FFFFFF"/>
                </a:solidFill>
                <a:effectLst/>
              </a:rPr>
              <a:t>CigarettesSW$rprice</a:t>
            </a:r>
            <a:r>
              <a:rPr lang="en-US" sz="2400" dirty="0">
                <a:solidFill>
                  <a:srgbClr val="FFFFFF"/>
                </a:solidFill>
                <a:effectLst/>
              </a:rPr>
              <a:t> &lt;- with(</a:t>
            </a:r>
            <a:r>
              <a:rPr lang="en-US" sz="2400" dirty="0" err="1">
                <a:solidFill>
                  <a:srgbClr val="FFFFFF"/>
                </a:solidFill>
                <a:effectLst/>
              </a:rPr>
              <a:t>CigarettesSW</a:t>
            </a:r>
            <a:r>
              <a:rPr lang="en-US" sz="2400" dirty="0">
                <a:solidFill>
                  <a:srgbClr val="FFFFFF"/>
                </a:solidFill>
                <a:effectLst/>
              </a:rPr>
              <a:t>, price / cpi)</a:t>
            </a:r>
          </a:p>
          <a:p>
            <a:endParaRPr lang="en-US" sz="2400" dirty="0">
              <a:solidFill>
                <a:srgbClr val="FFFFFF"/>
              </a:solidFill>
              <a:effectLst/>
            </a:endParaRPr>
          </a:p>
          <a:p>
            <a:r>
              <a:rPr lang="en-US" sz="2400" dirty="0">
                <a:solidFill>
                  <a:srgbClr val="FFFFFF"/>
                </a:solidFill>
                <a:effectLst/>
              </a:rPr>
              <a:t>#  compute the sales tax</a:t>
            </a:r>
          </a:p>
          <a:p>
            <a:r>
              <a:rPr lang="en-US" sz="2400" dirty="0" err="1">
                <a:solidFill>
                  <a:srgbClr val="FFFFFF"/>
                </a:solidFill>
                <a:effectLst/>
              </a:rPr>
              <a:t>CigarettesSW$salestax</a:t>
            </a:r>
            <a:r>
              <a:rPr lang="en-US" sz="2400" dirty="0">
                <a:solidFill>
                  <a:srgbClr val="FFFFFF"/>
                </a:solidFill>
                <a:effectLst/>
              </a:rPr>
              <a:t> &lt;- with(</a:t>
            </a:r>
            <a:r>
              <a:rPr lang="en-US" sz="2400" dirty="0" err="1">
                <a:solidFill>
                  <a:srgbClr val="FFFFFF"/>
                </a:solidFill>
                <a:effectLst/>
              </a:rPr>
              <a:t>CigarettesSW</a:t>
            </a:r>
            <a:r>
              <a:rPr lang="en-US" sz="2400" dirty="0">
                <a:solidFill>
                  <a:srgbClr val="FFFFFF"/>
                </a:solidFill>
                <a:effectLst/>
              </a:rPr>
              <a:t>, (</a:t>
            </a:r>
            <a:r>
              <a:rPr lang="en-US" sz="2400" dirty="0" err="1">
                <a:solidFill>
                  <a:srgbClr val="FFFFFF"/>
                </a:solidFill>
                <a:effectLst/>
              </a:rPr>
              <a:t>taxs</a:t>
            </a:r>
            <a:r>
              <a:rPr lang="en-US" sz="2400" dirty="0">
                <a:solidFill>
                  <a:srgbClr val="FFFFFF"/>
                </a:solidFill>
                <a:effectLst/>
              </a:rPr>
              <a:t> - tax) / cpi)</a:t>
            </a:r>
          </a:p>
          <a:p>
            <a:endParaRPr lang="en-US" sz="2400" dirty="0">
              <a:solidFill>
                <a:srgbClr val="FFFFFF"/>
              </a:solidFill>
              <a:effectLst/>
            </a:endParaRPr>
          </a:p>
          <a:p>
            <a:r>
              <a:rPr lang="en-US" sz="2400" dirty="0">
                <a:solidFill>
                  <a:srgbClr val="FFFFFF"/>
                </a:solidFill>
                <a:effectLst/>
              </a:rPr>
              <a:t># check the correlation between sales tax and price</a:t>
            </a:r>
          </a:p>
          <a:p>
            <a:r>
              <a:rPr lang="en-US" sz="2400" dirty="0" err="1">
                <a:solidFill>
                  <a:srgbClr val="FFFFFF"/>
                </a:solidFill>
                <a:effectLst/>
              </a:rPr>
              <a:t>cor</a:t>
            </a:r>
            <a:r>
              <a:rPr lang="en-US" sz="2400" dirty="0">
                <a:solidFill>
                  <a:srgbClr val="FFFFFF"/>
                </a:solidFill>
                <a:effectLst/>
              </a:rPr>
              <a:t>(</a:t>
            </a:r>
            <a:r>
              <a:rPr lang="en-US" sz="2400" dirty="0" err="1">
                <a:solidFill>
                  <a:srgbClr val="FFFFFF"/>
                </a:solidFill>
                <a:effectLst/>
              </a:rPr>
              <a:t>CigarettesSW$salestax</a:t>
            </a:r>
            <a:r>
              <a:rPr lang="en-US" sz="2400" dirty="0">
                <a:solidFill>
                  <a:srgbClr val="FFFFFF"/>
                </a:solidFill>
                <a:effectLst/>
              </a:rPr>
              <a:t>, </a:t>
            </a:r>
            <a:r>
              <a:rPr lang="en-US" sz="2400" dirty="0" err="1">
                <a:solidFill>
                  <a:srgbClr val="FFFFFF"/>
                </a:solidFill>
                <a:effectLst/>
              </a:rPr>
              <a:t>CigarettesSW$price</a:t>
            </a:r>
            <a:r>
              <a:rPr lang="en-US" sz="2400" dirty="0">
                <a:solidFill>
                  <a:srgbClr val="FFFFFF"/>
                </a:solidFill>
                <a:effectLst/>
              </a:rPr>
              <a:t>)</a:t>
            </a:r>
          </a:p>
          <a:p>
            <a:r>
              <a:rPr lang="en-US" sz="2400" dirty="0">
                <a:solidFill>
                  <a:srgbClr val="FFFFFF"/>
                </a:solidFill>
                <a:effectLst/>
              </a:rPr>
              <a:t>#[1] 0.6141228</a:t>
            </a:r>
          </a:p>
          <a:p>
            <a:endParaRPr lang="en-US" sz="2400" dirty="0">
              <a:solidFill>
                <a:srgbClr val="FFFFFF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43A15-7666-45E0-81F7-C3F1A04EE48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96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-152" y="533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2"/>
                </a:moveTo>
                <a:lnTo>
                  <a:pt x="4608576" y="3456432"/>
                </a:lnTo>
                <a:lnTo>
                  <a:pt x="4608576" y="0"/>
                </a:lnTo>
                <a:lnTo>
                  <a:pt x="0" y="0"/>
                </a:lnTo>
                <a:lnTo>
                  <a:pt x="0" y="3456432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9527" y="470472"/>
            <a:ext cx="3051045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91E4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-152" y="340385"/>
            <a:ext cx="4608830" cy="3116580"/>
          </a:xfrm>
          <a:custGeom>
            <a:avLst/>
            <a:gdLst/>
            <a:ahLst/>
            <a:cxnLst/>
            <a:rect l="l" t="t" r="r" b="b"/>
            <a:pathLst>
              <a:path w="4608830" h="3116579">
                <a:moveTo>
                  <a:pt x="0" y="3116580"/>
                </a:moveTo>
                <a:lnTo>
                  <a:pt x="4608576" y="3116580"/>
                </a:lnTo>
                <a:lnTo>
                  <a:pt x="4608576" y="0"/>
                </a:lnTo>
                <a:lnTo>
                  <a:pt x="0" y="0"/>
                </a:lnTo>
                <a:lnTo>
                  <a:pt x="0" y="3116580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-152" y="0"/>
            <a:ext cx="4608830" cy="341630"/>
          </a:xfrm>
          <a:custGeom>
            <a:avLst/>
            <a:gdLst/>
            <a:ahLst/>
            <a:cxnLst/>
            <a:rect l="l" t="t" r="r" b="b"/>
            <a:pathLst>
              <a:path w="4608830" h="341630">
                <a:moveTo>
                  <a:pt x="0" y="341375"/>
                </a:moveTo>
                <a:lnTo>
                  <a:pt x="4608576" y="341375"/>
                </a:lnTo>
                <a:lnTo>
                  <a:pt x="4608576" y="0"/>
                </a:lnTo>
                <a:lnTo>
                  <a:pt x="0" y="0"/>
                </a:lnTo>
                <a:lnTo>
                  <a:pt x="0" y="341375"/>
                </a:lnTo>
                <a:close/>
              </a:path>
            </a:pathLst>
          </a:custGeom>
          <a:solidFill>
            <a:srgbClr val="0B18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-152" y="533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2"/>
                </a:moveTo>
                <a:lnTo>
                  <a:pt x="4608576" y="3456432"/>
                </a:lnTo>
                <a:lnTo>
                  <a:pt x="4608576" y="0"/>
                </a:lnTo>
                <a:lnTo>
                  <a:pt x="0" y="0"/>
                </a:lnTo>
                <a:lnTo>
                  <a:pt x="0" y="3456432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(Set B Version 2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outdoor, building&#10;&#10;Description automatically generated">
            <a:extLst>
              <a:ext uri="{FF2B5EF4-FFF2-40B4-BE49-F238E27FC236}">
                <a16:creationId xmlns:a16="http://schemas.microsoft.com/office/drawing/2014/main" id="{2490333A-BD01-48E1-9E20-334D9AAD29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19"/>
            <a:ext cx="4610100" cy="34591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8574" y="826042"/>
            <a:ext cx="1942828" cy="694856"/>
          </a:xfrm>
        </p:spPr>
        <p:txBody>
          <a:bodyPr anchor="t">
            <a:normAutofit/>
          </a:bodyPr>
          <a:lstStyle>
            <a:lvl1pPr algn="l">
              <a:defRPr sz="1134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8574" y="1730375"/>
            <a:ext cx="1942828" cy="481872"/>
          </a:xfrm>
        </p:spPr>
        <p:txBody>
          <a:bodyPr anchor="b">
            <a:normAutofit/>
          </a:bodyPr>
          <a:lstStyle>
            <a:lvl1pPr marL="0" indent="0" algn="l">
              <a:buNone/>
              <a:defRPr sz="756">
                <a:solidFill>
                  <a:schemeClr val="tx1"/>
                </a:solidFill>
              </a:defRPr>
            </a:lvl1pPr>
            <a:lvl2pPr marL="172867" indent="0" algn="ctr">
              <a:buNone/>
              <a:defRPr sz="756"/>
            </a:lvl2pPr>
            <a:lvl3pPr marL="345735" indent="0" algn="ctr">
              <a:buNone/>
              <a:defRPr sz="681"/>
            </a:lvl3pPr>
            <a:lvl4pPr marL="518602" indent="0" algn="ctr">
              <a:buNone/>
              <a:defRPr sz="605"/>
            </a:lvl4pPr>
            <a:lvl5pPr marL="691469" indent="0" algn="ctr">
              <a:buNone/>
              <a:defRPr sz="605"/>
            </a:lvl5pPr>
            <a:lvl6pPr marL="864337" indent="0" algn="ctr">
              <a:buNone/>
              <a:defRPr sz="605"/>
            </a:lvl6pPr>
            <a:lvl7pPr marL="1037204" indent="0" algn="ctr">
              <a:buNone/>
              <a:defRPr sz="605"/>
            </a:lvl7pPr>
            <a:lvl8pPr marL="1210071" indent="0" algn="ctr">
              <a:buNone/>
              <a:defRPr sz="605"/>
            </a:lvl8pPr>
            <a:lvl9pPr marL="1382939" indent="0" algn="ctr">
              <a:buNone/>
              <a:defRPr sz="605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C3A2E2-6D71-4C4E-9D93-A3CD458DE801}"/>
              </a:ext>
            </a:extLst>
          </p:cNvPr>
          <p:cNvCxnSpPr>
            <a:cxnSpLocks/>
          </p:cNvCxnSpPr>
          <p:nvPr userDrawn="1"/>
        </p:nvCxnSpPr>
        <p:spPr>
          <a:xfrm>
            <a:off x="1246168" y="0"/>
            <a:ext cx="166485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5A6F62FF-1236-448C-9805-C40E9821F8EA}"/>
              </a:ext>
            </a:extLst>
          </p:cNvPr>
          <p:cNvSpPr/>
          <p:nvPr userDrawn="1"/>
        </p:nvSpPr>
        <p:spPr>
          <a:xfrm rot="16200000">
            <a:off x="2512571" y="-1303237"/>
            <a:ext cx="798714" cy="340355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8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8A4516-F3A3-34FB-AB0E-29FD2B48998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214" y="0"/>
            <a:ext cx="813886" cy="61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78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758" y="840207"/>
            <a:ext cx="3918585" cy="931024"/>
          </a:xfrm>
        </p:spPr>
        <p:txBody>
          <a:bodyPr anchor="b"/>
          <a:lstStyle>
            <a:lvl1pPr algn="ctr">
              <a:defRPr sz="30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263" y="1817695"/>
            <a:ext cx="3457575" cy="186205"/>
          </a:xfrm>
        </p:spPr>
        <p:txBody>
          <a:bodyPr/>
          <a:lstStyle>
            <a:lvl1pPr marL="0" indent="0" algn="ctr">
              <a:buNone/>
              <a:defRPr sz="1210"/>
            </a:lvl1pPr>
            <a:lvl2pPr marL="230520" indent="0" algn="ctr">
              <a:buNone/>
              <a:defRPr sz="1008"/>
            </a:lvl2pPr>
            <a:lvl3pPr marL="461040" indent="0" algn="ctr">
              <a:buNone/>
              <a:defRPr sz="908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30505" y="3218497"/>
            <a:ext cx="1060323" cy="276999"/>
          </a:xfrm>
        </p:spPr>
        <p:txBody>
          <a:bodyPr/>
          <a:lstStyle/>
          <a:p>
            <a:fld id="{FE4E147F-2E32-4170-A556-379330FADBA0}" type="datetimeFigureOut">
              <a:rPr lang="en-US" smtClean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67434" y="3218497"/>
            <a:ext cx="1475232" cy="276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319272" y="3218497"/>
            <a:ext cx="1060323" cy="276999"/>
          </a:xfrm>
        </p:spPr>
        <p:txBody>
          <a:bodyPr/>
          <a:lstStyle/>
          <a:p>
            <a:fld id="{FAA42266-ACF5-4710-A458-1F27E295D5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455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0925" y="6942"/>
            <a:ext cx="2968249" cy="441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1129" y="787747"/>
            <a:ext cx="3847840" cy="2065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worldbank.org/" TargetMode="External"/><Relationship Id="rId2" Type="http://schemas.openxmlformats.org/officeDocument/2006/relationships/hyperlink" Target="https://wrds-www.wharton.upenn.edu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ura.gov.sg/Corporate/Property/Property-Data" TargetMode="External"/><Relationship Id="rId4" Type="http://schemas.openxmlformats.org/officeDocument/2006/relationships/hyperlink" Target="https://www.singstat.gov.sg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rds-www.wharton.upenn.edu/data-dictionary/tr_esg/" TargetMode="External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rds-www.wharton.upenn.edu/pages/get-data/lseg/refinitiv-esg/refinitiv-esg-scores/" TargetMode="External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ADADC-D650-4DC2-AADE-4DDC39555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187" y="1018172"/>
            <a:ext cx="2138863" cy="52066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effectLst/>
              </a:rPr>
              <a:t>ACC3018 Applied Analytics Capstone</a:t>
            </a:r>
            <a:br>
              <a:rPr lang="en-US" b="1" dirty="0">
                <a:effectLst/>
              </a:rPr>
            </a:br>
            <a:br>
              <a:rPr lang="en-US" b="1" dirty="0">
                <a:effectLst/>
              </a:rPr>
            </a:br>
            <a:r>
              <a:rPr lang="en-US" b="1" dirty="0">
                <a:effectLst/>
              </a:rPr>
              <a:t>Seminar 4</a:t>
            </a:r>
            <a:endParaRPr lang="en-GB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59157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1F649-CEC2-6E35-EED6-52E48635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53975"/>
            <a:ext cx="2968249" cy="215444"/>
          </a:xfrm>
        </p:spPr>
        <p:txBody>
          <a:bodyPr/>
          <a:lstStyle/>
          <a:p>
            <a:r>
              <a:rPr lang="en-SG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FEAFB-2981-40F9-1D86-E8E436F69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64" y="511175"/>
            <a:ext cx="4228971" cy="258532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Databases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 programming: cleaning and merging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Endogeneity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Case 1: effect of GDP on global life expectancy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Instrumental Variable &amp; Two-Stage Least-Squares Regression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Case 2: effect of cigarette price on cigarette consumption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Case 3: e</a:t>
            </a:r>
            <a:r>
              <a:rPr lang="en-US" sz="1200" b="0" i="0" dirty="0">
                <a:solidFill>
                  <a:srgbClr val="2C3E50"/>
                </a:solidFill>
                <a:effectLst/>
                <a:latin typeface="Lato"/>
              </a:rPr>
              <a:t>ffect of schooling on earnings in a classical model for wage determination</a:t>
            </a:r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SG" sz="12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SG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2815657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F9B41-23B1-F6CD-C59F-11F167EAC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529AE-34C9-857F-8BBE-9CAFBCC17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53975"/>
            <a:ext cx="2968249" cy="215444"/>
          </a:xfrm>
        </p:spPr>
        <p:txBody>
          <a:bodyPr/>
          <a:lstStyle/>
          <a:p>
            <a:r>
              <a:rPr lang="en-SG" dirty="0"/>
              <a:t>Databases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289BD-6839-C69D-57BF-A9B32F766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82" y="511175"/>
            <a:ext cx="4419536" cy="2031325"/>
          </a:xfrm>
        </p:spPr>
        <p:txBody>
          <a:bodyPr/>
          <a:lstStyle/>
          <a:p>
            <a:pPr marL="171450" indent="-1714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0C0"/>
                </a:solidFill>
              </a:rPr>
              <a:t>Financial and ESG data: WRDS </a:t>
            </a:r>
            <a:r>
              <a:rPr lang="en-US" sz="1200" dirty="0">
                <a:solidFill>
                  <a:srgbClr val="0070C0"/>
                </a:solidFill>
                <a:hlinkClick r:id="rId2"/>
              </a:rPr>
              <a:t>https://wrds-www.wharton.upenn.edu/</a:t>
            </a:r>
            <a:endParaRPr lang="en-US" sz="1200" dirty="0">
              <a:solidFill>
                <a:srgbClr val="0070C0"/>
              </a:solidFill>
            </a:endParaRPr>
          </a:p>
          <a:p>
            <a:pPr marL="171450" indent="-1714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0C0"/>
                </a:solidFill>
              </a:rPr>
              <a:t>World bank: </a:t>
            </a:r>
            <a:r>
              <a:rPr lang="en-US" sz="1200" dirty="0">
                <a:solidFill>
                  <a:srgbClr val="333333"/>
                </a:solidFill>
                <a:latin typeface="Helvetica Neue"/>
                <a:hlinkClick r:id="rId3"/>
              </a:rPr>
              <a:t>https://data.worldbank.org/</a:t>
            </a:r>
            <a:endParaRPr lang="en-US" sz="1200" dirty="0">
              <a:solidFill>
                <a:srgbClr val="333333"/>
              </a:solidFill>
              <a:latin typeface="Helvetica Neue"/>
            </a:endParaRPr>
          </a:p>
          <a:p>
            <a:pPr marL="171450" indent="-1714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0C0"/>
                </a:solidFill>
              </a:rPr>
              <a:t>Singapore Data: </a:t>
            </a:r>
            <a:r>
              <a:rPr lang="en-US" sz="1200" dirty="0">
                <a:solidFill>
                  <a:srgbClr val="0070C0"/>
                </a:solidFill>
                <a:hlinkClick r:id="rId4"/>
              </a:rPr>
              <a:t>https://www.singstat.gov.sg/</a:t>
            </a:r>
            <a:endParaRPr lang="en-US" sz="1200" dirty="0">
              <a:solidFill>
                <a:srgbClr val="0070C0"/>
              </a:solidFill>
            </a:endParaRPr>
          </a:p>
          <a:p>
            <a:pPr marL="171450" indent="-1714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0C0"/>
                </a:solidFill>
              </a:rPr>
              <a:t>Property Data: </a:t>
            </a:r>
            <a:r>
              <a:rPr lang="en-US" sz="1200" dirty="0">
                <a:solidFill>
                  <a:srgbClr val="0070C0"/>
                </a:solidFill>
                <a:hlinkClick r:id="rId5"/>
              </a:rPr>
              <a:t>https://www.ura.gov.sg/Corporate/Property/Property-Data</a:t>
            </a:r>
            <a:endParaRPr lang="en-US" sz="1200" dirty="0">
              <a:solidFill>
                <a:srgbClr val="0070C0"/>
              </a:solidFill>
            </a:endParaRPr>
          </a:p>
          <a:p>
            <a:pPr marL="171450" indent="-1714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0C0"/>
                </a:solidFill>
              </a:rPr>
              <a:t>Bloomberg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SG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4012823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883"/>
            <a:ext cx="4610100" cy="3234280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0" y="19863"/>
            <a:ext cx="4043193" cy="328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18" b="1" dirty="0">
                <a:latin typeface="Calibri"/>
                <a:cs typeface="Calibri"/>
              </a:rPr>
              <a:t>WRDS Home Page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774F76-FF3F-49BC-8676-4CA69EA73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384" y="487980"/>
            <a:ext cx="2889378" cy="22808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08A353-373E-405C-84B9-3FFCEB55E545}"/>
              </a:ext>
            </a:extLst>
          </p:cNvPr>
          <p:cNvSpPr txBox="1"/>
          <p:nvPr/>
        </p:nvSpPr>
        <p:spPr>
          <a:xfrm>
            <a:off x="12215" y="595623"/>
            <a:ext cx="1468628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75" indent="-144075">
              <a:buFont typeface="Arial" panose="020B0604020202020204" pitchFamily="34" charset="0"/>
              <a:buChar char="•"/>
            </a:pPr>
            <a:r>
              <a:rPr lang="en-US" sz="1210" dirty="0"/>
              <a:t>The WRDS Home page displays your data subscriptions.</a:t>
            </a:r>
          </a:p>
          <a:p>
            <a:pPr marL="144075" indent="-144075">
              <a:buFont typeface="Arial" panose="020B0604020202020204" pitchFamily="34" charset="0"/>
              <a:buChar char="•"/>
            </a:pPr>
            <a:endParaRPr lang="en-US" sz="1210" dirty="0"/>
          </a:p>
          <a:p>
            <a:pPr marL="144075" indent="-144075">
              <a:buFont typeface="Arial" panose="020B0604020202020204" pitchFamily="34" charset="0"/>
              <a:buChar char="•"/>
            </a:pPr>
            <a:r>
              <a:rPr lang="en-US" sz="1210" dirty="0"/>
              <a:t>Scroll down the page to locate the CRSP dataset.</a:t>
            </a:r>
          </a:p>
          <a:p>
            <a:pPr marL="144075" indent="-144075">
              <a:buFont typeface="Arial" panose="020B0604020202020204" pitchFamily="34" charset="0"/>
              <a:buChar char="•"/>
            </a:pPr>
            <a:endParaRPr lang="en-US" sz="1210" dirty="0"/>
          </a:p>
          <a:p>
            <a:pPr marL="144075" indent="-144075">
              <a:buFont typeface="Arial" panose="020B0604020202020204" pitchFamily="34" charset="0"/>
              <a:buChar char="•"/>
            </a:pPr>
            <a:r>
              <a:rPr lang="en-US" sz="1210" dirty="0"/>
              <a:t>Click on CRSP.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AE7DBE7-21BE-43E9-A0A7-B1435E877A47}"/>
              </a:ext>
            </a:extLst>
          </p:cNvPr>
          <p:cNvCxnSpPr>
            <a:cxnSpLocks/>
          </p:cNvCxnSpPr>
          <p:nvPr/>
        </p:nvCxnSpPr>
        <p:spPr>
          <a:xfrm>
            <a:off x="1313807" y="2348547"/>
            <a:ext cx="334073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286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916"/>
            <a:ext cx="4610100" cy="32342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717" y="169419"/>
            <a:ext cx="3995420" cy="358276"/>
          </a:xfrm>
        </p:spPr>
        <p:txBody>
          <a:bodyPr>
            <a:normAutofit/>
          </a:bodyPr>
          <a:lstStyle/>
          <a:p>
            <a:pPr algn="l"/>
            <a:r>
              <a:rPr lang="en-US" sz="2218" b="1" dirty="0">
                <a:latin typeface="Calibri"/>
                <a:cs typeface="Calibri"/>
              </a:rPr>
              <a:t>CRSP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DDF794-7F87-4C9D-82A3-F093792C2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204" y="304408"/>
            <a:ext cx="2924532" cy="24677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D7C9BF-0B8F-48F6-A778-BDC83897ABB8}"/>
              </a:ext>
            </a:extLst>
          </p:cNvPr>
          <p:cNvSpPr txBox="1"/>
          <p:nvPr/>
        </p:nvSpPr>
        <p:spPr>
          <a:xfrm>
            <a:off x="139717" y="1247890"/>
            <a:ext cx="1538053" cy="650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75" indent="-144075">
              <a:buFont typeface="Arial" panose="020B0604020202020204" pitchFamily="34" charset="0"/>
              <a:buChar char="•"/>
            </a:pPr>
            <a:r>
              <a:rPr lang="en-US" sz="1210" dirty="0"/>
              <a:t>Click on Stock/Security Files.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95FB9C-D17E-44B5-84B4-F0D3060A7697}"/>
              </a:ext>
            </a:extLst>
          </p:cNvPr>
          <p:cNvCxnSpPr/>
          <p:nvPr/>
        </p:nvCxnSpPr>
        <p:spPr>
          <a:xfrm>
            <a:off x="774596" y="1733169"/>
            <a:ext cx="782979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949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916"/>
            <a:ext cx="4610100" cy="32342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717" y="169419"/>
            <a:ext cx="3995420" cy="358276"/>
          </a:xfrm>
        </p:spPr>
        <p:txBody>
          <a:bodyPr>
            <a:normAutofit/>
          </a:bodyPr>
          <a:lstStyle/>
          <a:p>
            <a:pPr algn="l"/>
            <a:r>
              <a:rPr lang="en-US" sz="2218" b="1" dirty="0">
                <a:latin typeface="Calibri"/>
                <a:cs typeface="Calibri"/>
              </a:rPr>
              <a:t>CRSP Stock/Security Files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2208" y="1220179"/>
            <a:ext cx="1109149" cy="1934723"/>
          </a:xfrm>
        </p:spPr>
        <p:txBody>
          <a:bodyPr>
            <a:noAutofit/>
          </a:bodyPr>
          <a:lstStyle/>
          <a:p>
            <a:pPr algn="l"/>
            <a:r>
              <a:rPr lang="en-US" sz="1412" dirty="0">
                <a:latin typeface="Calibri"/>
                <a:cs typeface="Calibri"/>
              </a:rPr>
              <a:t>Click on Monthly Stock File.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CB7E79-5255-4510-8A0E-C7A73FBEF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42" y="725547"/>
            <a:ext cx="3124027" cy="193697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6FC1133-C1E4-4B1B-B9C9-55C7FD117FCC}"/>
              </a:ext>
            </a:extLst>
          </p:cNvPr>
          <p:cNvCxnSpPr>
            <a:cxnSpLocks/>
          </p:cNvCxnSpPr>
          <p:nvPr/>
        </p:nvCxnSpPr>
        <p:spPr>
          <a:xfrm flipH="1">
            <a:off x="3257962" y="1539685"/>
            <a:ext cx="347853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589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883"/>
            <a:ext cx="4610100" cy="32342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717" y="76717"/>
            <a:ext cx="3995420" cy="358276"/>
          </a:xfrm>
        </p:spPr>
        <p:txBody>
          <a:bodyPr>
            <a:normAutofit/>
          </a:bodyPr>
          <a:lstStyle/>
          <a:p>
            <a:pPr algn="l"/>
            <a:r>
              <a:rPr lang="en-US" sz="2218" b="1" dirty="0">
                <a:latin typeface="Calibri"/>
                <a:cs typeface="Calibri"/>
              </a:rPr>
              <a:t>CRSP Monthly Stock Data Query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624A69-B8D8-422D-9F6D-1014DC497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264" y="492186"/>
            <a:ext cx="2968922" cy="20696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895CE1-C05E-4B17-8681-25B81C08D581}"/>
              </a:ext>
            </a:extLst>
          </p:cNvPr>
          <p:cNvSpPr txBox="1"/>
          <p:nvPr/>
        </p:nvSpPr>
        <p:spPr>
          <a:xfrm>
            <a:off x="94914" y="1803399"/>
            <a:ext cx="1311633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75" indent="-144075">
              <a:buFont typeface="Arial" panose="020B0604020202020204" pitchFamily="34" charset="0"/>
              <a:buChar char="•"/>
            </a:pPr>
            <a:r>
              <a:rPr lang="en-US" sz="1210" dirty="0">
                <a:latin typeface="Calibri"/>
                <a:cs typeface="Calibri"/>
              </a:rPr>
              <a:t>Enter 2020-01 to 2020-12 in the Date Variable fields. </a:t>
            </a:r>
            <a:endParaRPr lang="en-US" sz="121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18663E-82AA-4986-B2D0-5428823320FF}"/>
              </a:ext>
            </a:extLst>
          </p:cNvPr>
          <p:cNvCxnSpPr>
            <a:cxnSpLocks/>
          </p:cNvCxnSpPr>
          <p:nvPr/>
        </p:nvCxnSpPr>
        <p:spPr>
          <a:xfrm>
            <a:off x="1163010" y="2297759"/>
            <a:ext cx="349675" cy="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5D7FC10-669B-4AFF-8156-8098B70F28BA}"/>
              </a:ext>
            </a:extLst>
          </p:cNvPr>
          <p:cNvSpPr txBox="1"/>
          <p:nvPr/>
        </p:nvSpPr>
        <p:spPr>
          <a:xfrm>
            <a:off x="94913" y="554465"/>
            <a:ext cx="1242016" cy="1209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75" indent="-144075">
              <a:buFont typeface="Arial" panose="020B0604020202020204" pitchFamily="34" charset="0"/>
              <a:buChar char="•"/>
            </a:pPr>
            <a:r>
              <a:rPr lang="en-US" sz="1210" dirty="0">
                <a:latin typeface="Calibri" panose="020F0502020204030204" pitchFamily="34" charset="0"/>
                <a:cs typeface="Calibri" panose="020F0502020204030204" pitchFamily="34" charset="0"/>
              </a:rPr>
              <a:t>On the query page, the first step is to select the date range for your data. </a:t>
            </a:r>
          </a:p>
        </p:txBody>
      </p:sp>
    </p:spTree>
    <p:extLst>
      <p:ext uri="{BB962C8B-B14F-4D97-AF65-F5344CB8AC3E}">
        <p14:creationId xmlns:p14="http://schemas.microsoft.com/office/powerpoint/2010/main" val="1675330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883"/>
            <a:ext cx="4610100" cy="323428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09328" y="108149"/>
            <a:ext cx="3809736" cy="47424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18" b="1" dirty="0">
                <a:latin typeface="Calibri"/>
                <a:cs typeface="Calibri"/>
              </a:rPr>
              <a:t>Enter the Companies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988546-E3B4-4064-BADE-172CF3A8C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927" y="699132"/>
            <a:ext cx="3415929" cy="12570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D23ED2-F83C-4EC9-8EF9-CCF05720D2DB}"/>
              </a:ext>
            </a:extLst>
          </p:cNvPr>
          <p:cNvSpPr txBox="1"/>
          <p:nvPr/>
        </p:nvSpPr>
        <p:spPr>
          <a:xfrm>
            <a:off x="1982344" y="2263695"/>
            <a:ext cx="2233803" cy="790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2890" indent="-172890">
              <a:buFont typeface="Arial" panose="020B0604020202020204" pitchFamily="34" charset="0"/>
              <a:buChar char="•"/>
            </a:pPr>
            <a:r>
              <a:rPr lang="en-US" sz="1210" dirty="0">
                <a:latin typeface="Calibri"/>
                <a:cs typeface="Calibri"/>
              </a:rPr>
              <a:t>Enter the ticker symbols for the companies: IBM AMZN WMT.</a:t>
            </a:r>
          </a:p>
          <a:p>
            <a:endParaRPr lang="en-US" sz="908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AC2439-D3C5-49FD-A5C8-87A4E2134832}"/>
              </a:ext>
            </a:extLst>
          </p:cNvPr>
          <p:cNvSpPr txBox="1"/>
          <p:nvPr/>
        </p:nvSpPr>
        <p:spPr>
          <a:xfrm>
            <a:off x="33528" y="760159"/>
            <a:ext cx="934593" cy="976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2890" indent="-172890">
              <a:buFont typeface="Arial" panose="020B0604020202020204" pitchFamily="34" charset="0"/>
              <a:buChar char="•"/>
            </a:pPr>
            <a:r>
              <a:rPr lang="en-US" sz="1210" dirty="0">
                <a:latin typeface="Calibri"/>
                <a:cs typeface="Calibri"/>
              </a:rPr>
              <a:t>Make sure Ticker is selected.</a:t>
            </a:r>
          </a:p>
          <a:p>
            <a:endParaRPr lang="en-US" sz="908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680C05-9251-413B-AD67-A1E52B648171}"/>
              </a:ext>
            </a:extLst>
          </p:cNvPr>
          <p:cNvCxnSpPr>
            <a:cxnSpLocks/>
          </p:cNvCxnSpPr>
          <p:nvPr/>
        </p:nvCxnSpPr>
        <p:spPr>
          <a:xfrm>
            <a:off x="880110" y="1162494"/>
            <a:ext cx="342735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CBE0C4-D828-464E-805F-AB2C30F78BBC}"/>
              </a:ext>
            </a:extLst>
          </p:cNvPr>
          <p:cNvCxnSpPr>
            <a:cxnSpLocks/>
          </p:cNvCxnSpPr>
          <p:nvPr/>
        </p:nvCxnSpPr>
        <p:spPr>
          <a:xfrm flipH="1" flipV="1">
            <a:off x="2160881" y="2003906"/>
            <a:ext cx="194462" cy="21207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563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883"/>
            <a:ext cx="4610100" cy="323428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92082" y="90940"/>
            <a:ext cx="3589947" cy="44036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18" b="1" dirty="0">
                <a:latin typeface="Calibri"/>
                <a:cs typeface="Calibri"/>
              </a:rPr>
              <a:t>Select the Query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5208" y="2543211"/>
            <a:ext cx="2303359" cy="569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2890" indent="-172890">
              <a:buFont typeface="Arial" panose="020B0604020202020204" pitchFamily="34" charset="0"/>
              <a:buChar char="•"/>
            </a:pPr>
            <a:r>
              <a:rPr lang="en-US" sz="1210" dirty="0">
                <a:latin typeface="Calibri"/>
                <a:cs typeface="Calibri"/>
              </a:rPr>
              <a:t>For this assignment, select two variables: Ticker and Price.</a:t>
            </a:r>
          </a:p>
          <a:p>
            <a:endParaRPr lang="en-US" sz="68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959" y="696509"/>
            <a:ext cx="1371083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2890" indent="-172890">
              <a:buFont typeface="Arial" panose="020B0604020202020204" pitchFamily="34" charset="0"/>
              <a:buChar char="•"/>
            </a:pPr>
            <a:r>
              <a:rPr lang="en-US" sz="1210" dirty="0"/>
              <a:t>Select the variables you want from the Query Variables list.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9CD423-BF88-4548-BA99-816195310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569" y="600187"/>
            <a:ext cx="2820368" cy="188666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1312871-194D-40A1-805F-10DD4BA7047A}"/>
              </a:ext>
            </a:extLst>
          </p:cNvPr>
          <p:cNvCxnSpPr/>
          <p:nvPr/>
        </p:nvCxnSpPr>
        <p:spPr>
          <a:xfrm>
            <a:off x="1114806" y="755968"/>
            <a:ext cx="356236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1E0471-2F2B-4EA2-B80C-EE0C23B4D98C}"/>
              </a:ext>
            </a:extLst>
          </p:cNvPr>
          <p:cNvCxnSpPr/>
          <p:nvPr/>
        </p:nvCxnSpPr>
        <p:spPr>
          <a:xfrm flipV="1">
            <a:off x="3478530" y="1895920"/>
            <a:ext cx="0" cy="64729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937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883"/>
            <a:ext cx="4610100" cy="323428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28058" y="165983"/>
            <a:ext cx="4078658" cy="8339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18" b="1" dirty="0">
                <a:latin typeface="Calibri"/>
                <a:cs typeface="Calibri"/>
              </a:rPr>
              <a:t>Select the Query Output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554" y="2552307"/>
            <a:ext cx="3559752" cy="569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2890" indent="-172890">
              <a:buFont typeface="Arial" panose="020B0604020202020204" pitchFamily="34" charset="0"/>
              <a:buChar char="•"/>
            </a:pPr>
            <a:r>
              <a:rPr lang="en-US" sz="1210" dirty="0">
                <a:latin typeface="Calibri"/>
                <a:cs typeface="Calibri"/>
              </a:rPr>
              <a:t>For this assignment, select fixed-width text (*.txt), which will display the data in your browser.</a:t>
            </a:r>
          </a:p>
          <a:p>
            <a:endParaRPr lang="en-US" sz="68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AB9BE0-6CC1-45A4-AE1D-BF93B6D90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58" y="510134"/>
            <a:ext cx="3456069" cy="198327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BAAF8C-06E3-44CB-A32E-C2AB1F993142}"/>
              </a:ext>
            </a:extLst>
          </p:cNvPr>
          <p:cNvCxnSpPr>
            <a:cxnSpLocks/>
          </p:cNvCxnSpPr>
          <p:nvPr/>
        </p:nvCxnSpPr>
        <p:spPr>
          <a:xfrm flipH="1" flipV="1">
            <a:off x="290740" y="1314491"/>
            <a:ext cx="735233" cy="1268753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236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883"/>
            <a:ext cx="4610100" cy="323428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28058" y="165983"/>
            <a:ext cx="4078658" cy="8339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18" b="1" dirty="0">
                <a:latin typeface="Calibri"/>
                <a:cs typeface="Calibri"/>
              </a:rPr>
              <a:t>Run the Query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4856EC-68F4-4FB6-9213-CD5B93C2E377}"/>
              </a:ext>
            </a:extLst>
          </p:cNvPr>
          <p:cNvSpPr txBox="1"/>
          <p:nvPr/>
        </p:nvSpPr>
        <p:spPr>
          <a:xfrm>
            <a:off x="2923819" y="2065144"/>
            <a:ext cx="1699410" cy="83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75" indent="-144075">
              <a:buFont typeface="Arial" panose="020B0604020202020204" pitchFamily="34" charset="0"/>
              <a:buChar char="•"/>
            </a:pPr>
            <a:r>
              <a:rPr lang="en-US" sz="1210" dirty="0"/>
              <a:t>Click the Submit Form button at the bottom of the page to run the query.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36BDDB-0325-4045-99DE-E8D0F96BF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06" y="632294"/>
            <a:ext cx="2651007" cy="211745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9F961C-C6EE-4516-AD07-5EAFB19D9F20}"/>
              </a:ext>
            </a:extLst>
          </p:cNvPr>
          <p:cNvCxnSpPr>
            <a:cxnSpLocks/>
          </p:cNvCxnSpPr>
          <p:nvPr/>
        </p:nvCxnSpPr>
        <p:spPr>
          <a:xfrm flipH="1">
            <a:off x="725044" y="2616772"/>
            <a:ext cx="2300858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866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883"/>
            <a:ext cx="4610100" cy="323428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28058" y="232784"/>
            <a:ext cx="4078658" cy="8339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18" b="1" dirty="0">
                <a:latin typeface="Calibri"/>
                <a:cs typeface="Calibri"/>
              </a:rPr>
              <a:t>Query Summary</a:t>
            </a:r>
          </a:p>
          <a:p>
            <a:endParaRPr lang="en-US" sz="2218" b="1" dirty="0">
              <a:latin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CFE5FF-0E91-4F4A-AA70-E38AB7CCE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60" y="649754"/>
            <a:ext cx="2831671" cy="18153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9279E9-7B3C-4DC4-8D7D-B427A3639D81}"/>
              </a:ext>
            </a:extLst>
          </p:cNvPr>
          <p:cNvSpPr txBox="1"/>
          <p:nvPr/>
        </p:nvSpPr>
        <p:spPr>
          <a:xfrm>
            <a:off x="128058" y="2546264"/>
            <a:ext cx="4078658" cy="46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75" indent="-144075">
              <a:buFont typeface="Arial" panose="020B0604020202020204" pitchFamily="34" charset="0"/>
              <a:buChar char="•"/>
            </a:pPr>
            <a:r>
              <a:rPr lang="en-US" sz="1210" dirty="0"/>
              <a:t>Click the Output Files link to access the results of your query.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F2526A-C428-4536-BCD6-E8C778E0A0FC}"/>
              </a:ext>
            </a:extLst>
          </p:cNvPr>
          <p:cNvCxnSpPr>
            <a:cxnSpLocks/>
          </p:cNvCxnSpPr>
          <p:nvPr/>
        </p:nvCxnSpPr>
        <p:spPr>
          <a:xfrm flipV="1">
            <a:off x="1689675" y="2360033"/>
            <a:ext cx="0" cy="210149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DA15A8D-5FE6-4563-A283-20E07F5AF8D5}"/>
              </a:ext>
            </a:extLst>
          </p:cNvPr>
          <p:cNvSpPr txBox="1"/>
          <p:nvPr/>
        </p:nvSpPr>
        <p:spPr>
          <a:xfrm>
            <a:off x="3158966" y="79024"/>
            <a:ext cx="1421877" cy="2326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75" indent="-144075">
              <a:buFont typeface="Arial" panose="020B0604020202020204" pitchFamily="34" charset="0"/>
              <a:buChar char="•"/>
            </a:pPr>
            <a:r>
              <a:rPr lang="en-US" sz="1210" dirty="0"/>
              <a:t>A summary page opens in a new tab, indicating the status of your query, and containing the link to your results.</a:t>
            </a:r>
            <a:br>
              <a:rPr lang="en-US" sz="1210" dirty="0"/>
            </a:br>
            <a:endParaRPr lang="en-US" sz="1210" dirty="0"/>
          </a:p>
          <a:p>
            <a:pPr marL="144075" indent="-144075">
              <a:buFont typeface="Arial" panose="020B0604020202020204" pitchFamily="34" charset="0"/>
              <a:buChar char="•"/>
            </a:pPr>
            <a:r>
              <a:rPr lang="en-US" sz="1210" dirty="0"/>
              <a:t>“</a:t>
            </a:r>
            <a:r>
              <a:rPr lang="en-US" sz="1210" dirty="0">
                <a:solidFill>
                  <a:srgbClr val="00B050"/>
                </a:solidFill>
              </a:rPr>
              <a:t>Success</a:t>
            </a:r>
            <a:r>
              <a:rPr lang="en-US" sz="1210" dirty="0"/>
              <a:t>” means your data is ready. </a:t>
            </a:r>
          </a:p>
        </p:txBody>
      </p:sp>
    </p:spTree>
    <p:extLst>
      <p:ext uri="{BB962C8B-B14F-4D97-AF65-F5344CB8AC3E}">
        <p14:creationId xmlns:p14="http://schemas.microsoft.com/office/powerpoint/2010/main" val="3076241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9" y="232784"/>
            <a:ext cx="4610100" cy="323428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28058" y="232784"/>
            <a:ext cx="4078658" cy="8339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18" b="1" dirty="0">
                <a:latin typeface="Calibri"/>
                <a:cs typeface="Calibri"/>
              </a:rPr>
              <a:t>Query 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08A321-C470-40AE-BE00-E7D7D03EE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693" y="131508"/>
            <a:ext cx="1730023" cy="2812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540C55-73F9-4928-8012-9F3A45A95320}"/>
              </a:ext>
            </a:extLst>
          </p:cNvPr>
          <p:cNvSpPr txBox="1"/>
          <p:nvPr/>
        </p:nvSpPr>
        <p:spPr>
          <a:xfrm>
            <a:off x="301752" y="730822"/>
            <a:ext cx="2003298" cy="1396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2890" indent="-172890">
              <a:buFont typeface="Arial" panose="020B0604020202020204" pitchFamily="34" charset="0"/>
              <a:buChar char="•"/>
            </a:pPr>
            <a:r>
              <a:rPr lang="en-US" sz="1412" dirty="0">
                <a:latin typeface="Calibri"/>
                <a:cs typeface="Calibri"/>
              </a:rPr>
              <a:t>The monthly stock prices for IBM, Amazon, and Walmart for 2020 are displayed. </a:t>
            </a:r>
          </a:p>
          <a:p>
            <a:pPr marL="172890" indent="-172890">
              <a:buFont typeface="Arial" panose="020B0604020202020204" pitchFamily="34" charset="0"/>
              <a:buChar char="•"/>
            </a:pPr>
            <a:endParaRPr lang="en-US" sz="1412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1816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883"/>
            <a:ext cx="4610100" cy="323428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84260" y="155467"/>
            <a:ext cx="4078658" cy="8339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18" b="1" dirty="0">
                <a:latin typeface="Calibri"/>
                <a:cs typeface="Calibri"/>
              </a:rPr>
              <a:t>Note: Pop-Up Blocker Installed?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23BA46-C6D7-4CC7-8820-E513CA275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8" y="724740"/>
            <a:ext cx="2486778" cy="23033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614FB8-DC77-4D76-9C29-98E9CCC484BA}"/>
              </a:ext>
            </a:extLst>
          </p:cNvPr>
          <p:cNvSpPr txBox="1"/>
          <p:nvPr/>
        </p:nvSpPr>
        <p:spPr>
          <a:xfrm>
            <a:off x="2818448" y="600352"/>
            <a:ext cx="1720494" cy="2326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75" indent="-144075">
              <a:buFont typeface="Arial" panose="020B0604020202020204" pitchFamily="34" charset="0"/>
              <a:buChar char="•"/>
            </a:pPr>
            <a:r>
              <a:rPr lang="en-US" sz="1210" dirty="0"/>
              <a:t>If you have a pop-up blocker on your browser, the query page will show a banner indicating the query was submitted. </a:t>
            </a:r>
          </a:p>
          <a:p>
            <a:pPr marL="144075" indent="-144075">
              <a:buFont typeface="Arial" panose="020B0604020202020204" pitchFamily="34" charset="0"/>
              <a:buChar char="•"/>
            </a:pPr>
            <a:endParaRPr lang="en-US" sz="1210" dirty="0"/>
          </a:p>
          <a:p>
            <a:pPr marL="144075" indent="-144075">
              <a:buFont typeface="Arial" panose="020B0604020202020204" pitchFamily="34" charset="0"/>
              <a:buChar char="•"/>
            </a:pPr>
            <a:r>
              <a:rPr lang="en-US" sz="1210" dirty="0"/>
              <a:t>Click the query number to proceed to the Summary screen, then click the link to access your results.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57D9BB-741B-480F-940E-5148CBB6211C}"/>
              </a:ext>
            </a:extLst>
          </p:cNvPr>
          <p:cNvCxnSpPr>
            <a:cxnSpLocks/>
          </p:cNvCxnSpPr>
          <p:nvPr/>
        </p:nvCxnSpPr>
        <p:spPr>
          <a:xfrm flipH="1" flipV="1">
            <a:off x="707232" y="1681315"/>
            <a:ext cx="2273618" cy="52251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433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B59D5-A19E-605F-3818-CD0F8D16E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86B8D-F870-2DF9-F171-41BBAF592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Stock Market Data in CRSP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71DD0-2626-3EE5-DFEB-09AE7B6409E8}"/>
              </a:ext>
            </a:extLst>
          </p:cNvPr>
          <p:cNvSpPr txBox="1"/>
          <p:nvPr/>
        </p:nvSpPr>
        <p:spPr>
          <a:xfrm>
            <a:off x="-1" y="460013"/>
            <a:ext cx="451484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baseline="0" dirty="0">
                <a:solidFill>
                  <a:srgbClr val="B31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 for Research in Security Prices (CRSP) is a research center at the Booth School of Business of the University of Chicago</a:t>
            </a:r>
          </a:p>
          <a:p>
            <a:endParaRPr lang="en-US" sz="1200" b="0" i="0" u="none" strike="noStrike" baseline="0" dirty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0" i="0" u="none" strike="noStrike" baseline="0" dirty="0">
                <a:solidFill>
                  <a:srgbClr val="B31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Comprehensive collection of daily and monthly security records for the NYSE/AMEX/NASDAQ/ARCA trading activities</a:t>
            </a:r>
          </a:p>
          <a:p>
            <a:endParaRPr lang="en-US" sz="1200" b="0" i="0" u="none" strike="noStrike" baseline="0" dirty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0" i="0" u="none" strike="noStrike" baseline="0" dirty="0">
                <a:solidFill>
                  <a:srgbClr val="B31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 and Monthly data for roughly 28K + securities of</a:t>
            </a:r>
          </a:p>
          <a:p>
            <a:r>
              <a:rPr lang="en-US" sz="1200" b="0" i="0" u="none" strike="noStrike" baseline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Domestic companies and ADRs traded on major exchanges from 1925–present</a:t>
            </a:r>
          </a:p>
          <a:p>
            <a:r>
              <a:rPr lang="en-US" sz="1200" b="0" i="0" u="none" strike="noStrike" baseline="0" dirty="0">
                <a:solidFill>
                  <a:srgbClr val="B31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</a:p>
          <a:p>
            <a:r>
              <a:rPr lang="en-US" sz="1200" b="0" i="0" u="none" strike="noStrike" baseline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 historical information : </a:t>
            </a:r>
          </a:p>
          <a:p>
            <a:pPr lvl="1"/>
            <a:r>
              <a:rPr lang="en-US" sz="1200" b="0" i="0" u="none" strike="noStrike" baseline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 records of special distributions and stock splits in return calculation </a:t>
            </a:r>
          </a:p>
          <a:p>
            <a:pPr lvl="1"/>
            <a:r>
              <a:rPr lang="en-US" sz="1200" b="0" i="0" u="none" strike="noStrike" baseline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Keep delisting companies (pre-M&amp;A or bankruptcies), and delisting returns</a:t>
            </a:r>
          </a:p>
        </p:txBody>
      </p:sp>
    </p:spTree>
    <p:extLst>
      <p:ext uri="{BB962C8B-B14F-4D97-AF65-F5344CB8AC3E}">
        <p14:creationId xmlns:p14="http://schemas.microsoft.com/office/powerpoint/2010/main" val="1347527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82B89-34DA-0DE4-2C7A-547F27246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22345-1C2E-1689-2544-AD74405E3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Stock Market Data in CRSP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CC59B-1754-6403-6067-DCE813D0110F}"/>
              </a:ext>
            </a:extLst>
          </p:cNvPr>
          <p:cNvSpPr txBox="1"/>
          <p:nvPr/>
        </p:nvSpPr>
        <p:spPr>
          <a:xfrm>
            <a:off x="-1" y="460013"/>
            <a:ext cx="4514849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PERMNO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at security level</a:t>
            </a:r>
          </a:p>
          <a:p>
            <a:r>
              <a:rPr lang="en-SG" sz="12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PERMCO at firm level </a:t>
            </a:r>
            <a:endParaRPr lang="en-SG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endParaRPr lang="en-SG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r>
              <a:rPr lang="en-US" sz="1200" b="0" i="0" u="none" strike="noStrike" baseline="0" dirty="0">
                <a:solidFill>
                  <a:srgbClr val="B31165"/>
                </a:solidFill>
                <a:latin typeface="Arial" panose="020B0604020202020204" pitchFamily="34" charset="0"/>
              </a:rPr>
              <a:t>•</a:t>
            </a:r>
            <a:r>
              <a:rPr lang="en-US" sz="12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PERMNO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is a unique permanent identifier and primary key assigned by CRSP to each security: </a:t>
            </a:r>
            <a:r>
              <a:rPr lang="en-US" sz="12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Permanent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, and </a:t>
            </a:r>
            <a:r>
              <a:rPr lang="en-US" sz="12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Unique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(</a:t>
            </a:r>
            <a:r>
              <a:rPr lang="en-US" sz="12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Not Recyclable)</a:t>
            </a:r>
            <a:endParaRPr lang="en-US" sz="120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endParaRPr lang="en-US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r>
              <a:rPr lang="en-US" sz="1200" b="0" i="0" u="none" strike="noStrike" baseline="0" dirty="0">
                <a:solidFill>
                  <a:srgbClr val="B31165"/>
                </a:solidFill>
                <a:latin typeface="Arial" panose="020B0604020202020204" pitchFamily="34" charset="0"/>
              </a:rPr>
              <a:t>•</a:t>
            </a:r>
            <a:r>
              <a:rPr lang="en-US" sz="12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PERMCO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is a unique identifier for each company assigned by CRSP: </a:t>
            </a:r>
            <a:r>
              <a:rPr lang="en-US" sz="12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Permanent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, and </a:t>
            </a:r>
            <a:r>
              <a:rPr lang="en-US" sz="12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Unique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(</a:t>
            </a:r>
            <a:r>
              <a:rPr lang="en-US" sz="12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Not Recyclable)</a:t>
            </a:r>
            <a:endParaRPr lang="en-US" sz="120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endParaRPr lang="en-US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r>
              <a:rPr lang="en-US" sz="1200" b="0" i="0" u="none" strike="noStrike" baseline="0" dirty="0">
                <a:solidFill>
                  <a:srgbClr val="B31165"/>
                </a:solidFill>
                <a:latin typeface="Arial" panose="020B0604020202020204" pitchFamily="34" charset="0"/>
              </a:rPr>
              <a:t>•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Date Identifiers</a:t>
            </a:r>
          </a:p>
          <a:p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Calendar date: In monthly stock file, date is set to be the end of the month</a:t>
            </a:r>
          </a:p>
          <a:p>
            <a:endParaRPr lang="en-SG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endParaRPr lang="en-SG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endParaRPr lang="en-US" sz="1200" b="0" i="0" u="none" strike="noStrike" baseline="0" dirty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696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0E21-5C92-BE01-E331-12A82D41A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BC6C9-719B-094E-EEA6-DD78AB1D7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Stock Market Data in CRSP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5C056D-1297-771E-2336-F1F4EF741D57}"/>
              </a:ext>
            </a:extLst>
          </p:cNvPr>
          <p:cNvSpPr txBox="1"/>
          <p:nvPr/>
        </p:nvSpPr>
        <p:spPr>
          <a:xfrm>
            <a:off x="-1" y="460013"/>
            <a:ext cx="451484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SG" sz="1000" b="0" i="0" u="none" strike="noStrike" baseline="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endParaRPr lang="en-SG" sz="1000" b="0" i="0" u="none" strike="noStrike" baseline="0" dirty="0">
              <a:latin typeface="Century Gothic" panose="020B0502020202020204" pitchFamily="34" charset="0"/>
            </a:endParaRPr>
          </a:p>
          <a:p>
            <a:r>
              <a:rPr lang="en-US" sz="10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Stock Tickers</a:t>
            </a:r>
            <a:r>
              <a:rPr lang="en-US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: Exchange Specific, with Suffixes, </a:t>
            </a:r>
            <a:r>
              <a:rPr lang="en-US" sz="10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NOT </a:t>
            </a:r>
            <a:r>
              <a:rPr lang="en-US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Permanent, and Recyclable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i="0" u="none" strike="noStrike" baseline="0" dirty="0">
                <a:solidFill>
                  <a:srgbClr val="FF0000"/>
                </a:solidFill>
                <a:latin typeface="Century Gothic" panose="020B0502020202020204" pitchFamily="34" charset="0"/>
              </a:rPr>
              <a:t>CRSP keeps historical changes in Ticker symbols</a:t>
            </a:r>
          </a:p>
          <a:p>
            <a:endParaRPr lang="en-SG" sz="1000" b="0" i="0" u="none" strike="noStrike" baseline="0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r>
              <a:rPr lang="en-US" sz="10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CUSIP </a:t>
            </a:r>
            <a:r>
              <a:rPr lang="en-US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also is </a:t>
            </a:r>
            <a:r>
              <a:rPr lang="en-US" sz="10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NOT </a:t>
            </a:r>
            <a:r>
              <a:rPr lang="en-US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Permanent but Unique and </a:t>
            </a:r>
            <a:r>
              <a:rPr lang="en-US" sz="10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NOT </a:t>
            </a:r>
            <a:r>
              <a:rPr lang="en-US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Exchange Specific.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8- or 9-digit CUSIP is assigned for issues (e.g. equities and bonds).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6-digit CUSIP is assigned for issuers (e.g. firms)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i="0" u="none" strike="noStrike" baseline="0" dirty="0">
                <a:solidFill>
                  <a:srgbClr val="FF0000"/>
                </a:solidFill>
                <a:latin typeface="Century Gothic" panose="020B0502020202020204" pitchFamily="34" charset="0"/>
              </a:rPr>
              <a:t>CRSP keeps both most current CUSIP and historical CUSIP (NCUSIP)</a:t>
            </a:r>
            <a:endParaRPr lang="en-US" sz="1000" b="0" i="0" u="none" strike="noStrike" baseline="0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endParaRPr lang="en-SG" sz="1000" b="0" i="0" u="none" strike="noStrike" baseline="0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r>
              <a:rPr lang="en-US" sz="1000" b="0" i="0" u="none" strike="noStrike" baseline="0" dirty="0">
                <a:solidFill>
                  <a:srgbClr val="B31165"/>
                </a:solidFill>
                <a:latin typeface="Arial" panose="020B0604020202020204" pitchFamily="34" charset="0"/>
              </a:rPr>
              <a:t>•</a:t>
            </a:r>
            <a:r>
              <a:rPr lang="en-US" sz="10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Company Names </a:t>
            </a:r>
            <a:r>
              <a:rPr lang="en-US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are often abbreviated/manipulated by data vendors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i="0" u="none" strike="noStrike" baseline="0" dirty="0">
                <a:solidFill>
                  <a:srgbClr val="FF0000"/>
                </a:solidFill>
                <a:latin typeface="Century Gothic" panose="020B0502020202020204" pitchFamily="34" charset="0"/>
              </a:rPr>
              <a:t>CRSP keeps historical changes in company names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Very difficult to have a reliable merging code by using company names</a:t>
            </a:r>
          </a:p>
          <a:p>
            <a:endParaRPr lang="en-SG" sz="10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endParaRPr lang="en-SG" sz="10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endParaRPr lang="en-SG" sz="10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endParaRPr lang="en-US" sz="1000" b="0" i="0" u="none" strike="noStrike" baseline="0" dirty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979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0A433-0068-3724-5A01-FC5AE5109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7F5B-27B2-532B-9369-297390F73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Stock Market Data in CRSP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87E72-D970-1A3F-CC08-BE09DB3D1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5930"/>
            <a:ext cx="4610100" cy="178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90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C0A4B-5107-3A6D-67F4-5A513F330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6B761-1A63-A601-BE12-BE514100E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Stock Market Data in CRSP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93B8B-11C6-1721-EF76-68AD0E624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5472"/>
            <a:ext cx="4610100" cy="204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30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BBB1-FD8C-42A7-AAB7-7E67E849C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Accounting and Financial Data in COMPUSTAT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0E3EB-6713-127C-ED14-5D31D0B72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" y="739775"/>
            <a:ext cx="4438650" cy="2154436"/>
          </a:xfrm>
        </p:spPr>
        <p:txBody>
          <a:bodyPr/>
          <a:lstStyle/>
          <a:p>
            <a:pPr algn="l"/>
            <a:br>
              <a:rPr lang="en-US" b="0" i="0" dirty="0">
                <a:effectLst/>
                <a:latin typeface="+mj-lt"/>
              </a:rPr>
            </a:br>
            <a:r>
              <a:rPr lang="en-US" b="0" i="0" dirty="0">
                <a:effectLst/>
                <a:latin typeface="+mj-lt"/>
              </a:rPr>
              <a:t>• COMPUSTAT North-America: U.S. and Canadian fundamental and market information on 35,000+ active and inactive public companies, from 1950-present</a:t>
            </a:r>
          </a:p>
          <a:p>
            <a:pPr algn="l"/>
            <a:br>
              <a:rPr lang="en-US" b="0" i="0" dirty="0">
                <a:effectLst/>
                <a:latin typeface="+mj-lt"/>
              </a:rPr>
            </a:br>
            <a:r>
              <a:rPr lang="en-US" b="0" i="0" dirty="0">
                <a:effectLst/>
                <a:latin typeface="+mj-lt"/>
              </a:rPr>
              <a:t>• COMPUSTAT Global: Fundamental data of 39,000+ active and inactive companies in 80+ countries, the earliest data is from 1986</a:t>
            </a:r>
          </a:p>
          <a:p>
            <a:pPr algn="l"/>
            <a:br>
              <a:rPr lang="en-US" b="0" i="0" dirty="0">
                <a:effectLst/>
                <a:latin typeface="+mj-lt"/>
              </a:rPr>
            </a:br>
            <a:r>
              <a:rPr lang="en-US" b="0" i="0" dirty="0">
                <a:effectLst/>
                <a:latin typeface="+mj-lt"/>
              </a:rPr>
              <a:t>• Fundamental data available on an annual and quarterly frequencies with thousands of Income Statement, Balance Sheet, Statement of Cash Flows, and supplemental &amp; industry- specific data items</a:t>
            </a:r>
          </a:p>
          <a:p>
            <a:pPr algn="l"/>
            <a:br>
              <a:rPr lang="en-US" b="0" i="0" dirty="0">
                <a:effectLst/>
                <a:latin typeface="+mj-lt"/>
              </a:rPr>
            </a:br>
            <a:r>
              <a:rPr lang="en-US" b="0" i="0" dirty="0">
                <a:effectLst/>
                <a:latin typeface="+mj-lt"/>
              </a:rPr>
              <a:t>• Market data available on a monthly and daily frequencies with Prices, Dividends, Returns, Trading Volume, Shares Outstanding and Short-Interest Information (Very Similar to CRSP in many dimensions)</a:t>
            </a:r>
            <a:endParaRPr lang="en-S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48664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2B37A-CB4A-F03A-B084-4B923CA4C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CEAA5-977B-B18F-4C2F-AB3EEC65B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Accounting and Financial Data in COMPUSTAT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7D5EB5-D1F3-7E6D-417B-4A0435961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775"/>
            <a:ext cx="4610100" cy="190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509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32982-E65C-55E0-FDDD-7913FA496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91CCB-4249-D73E-BD0A-F7CFFBB94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Accounting and Financial Data in COMPUSTAT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85B18E-7E0F-0739-62DB-40E643E5A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6264"/>
            <a:ext cx="4610100" cy="172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57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349B4-69E4-91F6-7EC0-EFEBCE3D4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4265B-E5A3-8E71-345E-E30461EF5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Accounting and Financial Data in COMPUSTAT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31E43-8BE0-8836-02FA-5ED5DAEC7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" y="739775"/>
            <a:ext cx="4438650" cy="2215991"/>
          </a:xfrm>
        </p:spPr>
        <p:txBody>
          <a:bodyPr/>
          <a:lstStyle/>
          <a:p>
            <a:pPr algn="l"/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The Primary Identifiers </a:t>
            </a:r>
          </a:p>
          <a:p>
            <a:pPr lvl="1" algn="l"/>
            <a:r>
              <a:rPr lang="en-US" sz="12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GVKEY at firm-level </a:t>
            </a:r>
            <a:endParaRPr lang="en-US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pPr lvl="1"/>
            <a:r>
              <a:rPr lang="en-SG" sz="12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GVKEY + IID </a:t>
            </a:r>
            <a:r>
              <a:rPr lang="en-SG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at security-level</a:t>
            </a:r>
          </a:p>
          <a:p>
            <a:endParaRPr lang="en-SG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r>
              <a:rPr lang="en-US" sz="12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GVKEY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is a unique six-digit identifier and primary key for each company and assigned by COMPUSTAT: </a:t>
            </a:r>
            <a:r>
              <a:rPr lang="en-US" sz="12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Permanent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, and </a:t>
            </a:r>
            <a:r>
              <a:rPr lang="en-US" sz="12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Unique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(</a:t>
            </a:r>
            <a:r>
              <a:rPr lang="en-US" sz="12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Not Recyclable)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.</a:t>
            </a:r>
          </a:p>
          <a:p>
            <a:endParaRPr lang="en-US" sz="1200" dirty="0">
              <a:solidFill>
                <a:srgbClr val="B31165"/>
              </a:solidFill>
              <a:latin typeface="Arial" panose="020B0604020202020204" pitchFamily="34" charset="0"/>
            </a:endParaRPr>
          </a:p>
          <a:p>
            <a:r>
              <a:rPr lang="en-US" sz="12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IID is assigned for each securities</a:t>
            </a:r>
          </a:p>
          <a:p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Alphabet’s class A stocks: IID = 01</a:t>
            </a:r>
          </a:p>
          <a:p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Alphabet’s class C stocks: IID = 03</a:t>
            </a:r>
          </a:p>
          <a:p>
            <a:endParaRPr lang="en-SG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379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09969-007A-085F-2092-7AB0B2B48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7522B-18D5-F9BC-4FFC-0D60576CA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Accounting and Financial Data in COMPUSTAT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97997-EDDE-6D20-8852-1AB308B66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824" y="511175"/>
            <a:ext cx="4438650" cy="3139321"/>
          </a:xfrm>
        </p:spPr>
        <p:txBody>
          <a:bodyPr/>
          <a:lstStyle/>
          <a:p>
            <a:r>
              <a:rPr lang="en-US" sz="12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Stock Tickers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: Exchange Specific, with Suffixes, </a:t>
            </a:r>
            <a:r>
              <a:rPr lang="en-US" sz="12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NOT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Permanent, and Recyclable</a:t>
            </a:r>
          </a:p>
          <a:p>
            <a:endParaRPr lang="en-US" sz="1200" dirty="0">
              <a:solidFill>
                <a:srgbClr val="B31165"/>
              </a:solidFill>
              <a:latin typeface="Arial" panose="020B0604020202020204" pitchFamily="34" charset="0"/>
            </a:endParaRPr>
          </a:p>
          <a:p>
            <a:r>
              <a:rPr lang="en-US" sz="12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CUSIP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also is </a:t>
            </a:r>
            <a:r>
              <a:rPr lang="en-US" sz="12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NOT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Permanent but Unique and </a:t>
            </a:r>
            <a:r>
              <a:rPr lang="en-US" sz="12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NOT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Exchange Specific.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8- or 9-digit CUSIP is assigned for issues (e.g. equities and bonds).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6-digit CUSIP is assigned for issuers (e.g. firms)</a:t>
            </a:r>
          </a:p>
          <a:p>
            <a:endParaRPr lang="en-SG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r>
              <a:rPr lang="en-US" sz="12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CIK: US filing number at the SEC, and Changeable</a:t>
            </a:r>
            <a:endParaRPr lang="en-US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endParaRPr lang="en-US" sz="1200" dirty="0">
              <a:solidFill>
                <a:srgbClr val="B31165"/>
              </a:solidFill>
              <a:latin typeface="Arial" panose="020B0604020202020204" pitchFamily="34" charset="0"/>
            </a:endParaRPr>
          </a:p>
          <a:p>
            <a:r>
              <a:rPr lang="en-US" sz="12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Company Names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are often abbreviated/manipulated by data vendors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Very difficult to have a reliable merging code by using company names</a:t>
            </a:r>
          </a:p>
          <a:p>
            <a:endParaRPr lang="en-SG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endParaRPr lang="en-SG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613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59444-59B2-6941-4E8A-B1E4C7382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3D5D-D71D-5605-6D78-49CB00841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Accounting and Financial Data in COMPUSTAT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3DA186-E1D0-D88C-BAB2-B65DE8B9C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7" y="739775"/>
            <a:ext cx="4610100" cy="179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85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7E1B1-6BD2-D38A-AF77-40B0232C2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F705E-D58C-9F82-F4F2-7D2F615C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Accounting and Financial Data in COMPUSTAT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9EF68A-D2A0-5C59-DB80-5AE3D0072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378287"/>
            <a:ext cx="2669271" cy="29440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61D2F3-E4E9-0665-E92C-8AB03D60DF66}"/>
              </a:ext>
            </a:extLst>
          </p:cNvPr>
          <p:cNvSpPr txBox="1"/>
          <p:nvPr/>
        </p:nvSpPr>
        <p:spPr>
          <a:xfrm>
            <a:off x="0" y="460013"/>
            <a:ext cx="22294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00" b="0" i="0" u="none" strike="noStrike" baseline="0" dirty="0">
                <a:solidFill>
                  <a:srgbClr val="B31165"/>
                </a:solidFill>
                <a:latin typeface="Arial" panose="020B0604020202020204" pitchFamily="34" charset="0"/>
              </a:rPr>
              <a:t>•</a:t>
            </a:r>
            <a:r>
              <a:rPr lang="en-SG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Consolidation Level: Consolidated (</a:t>
            </a:r>
            <a:r>
              <a:rPr lang="en-SG" sz="1000" b="0" i="0" u="none" strike="noStrike" baseline="0" dirty="0">
                <a:solidFill>
                  <a:srgbClr val="FF0000"/>
                </a:solidFill>
                <a:latin typeface="Century Gothic" panose="020B0502020202020204" pitchFamily="34" charset="0"/>
              </a:rPr>
              <a:t>C</a:t>
            </a:r>
            <a:r>
              <a:rPr lang="en-SG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) / Non-Consolidated (</a:t>
            </a:r>
            <a:r>
              <a:rPr lang="en-SG" sz="1000" b="0" i="0" u="none" strike="noStrike" baseline="0" dirty="0">
                <a:solidFill>
                  <a:srgbClr val="FF0000"/>
                </a:solidFill>
                <a:latin typeface="Century Gothic" panose="020B0502020202020204" pitchFamily="34" charset="0"/>
              </a:rPr>
              <a:t>N</a:t>
            </a:r>
            <a:r>
              <a:rPr lang="en-SG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) / etc.</a:t>
            </a:r>
          </a:p>
          <a:p>
            <a:endParaRPr lang="en-SG" sz="10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r>
              <a:rPr lang="en-SG" sz="1000" b="0" i="0" u="none" strike="noStrike" baseline="0" dirty="0">
                <a:solidFill>
                  <a:srgbClr val="B31165"/>
                </a:solidFill>
                <a:latin typeface="Arial" panose="020B0604020202020204" pitchFamily="34" charset="0"/>
              </a:rPr>
              <a:t>•</a:t>
            </a:r>
            <a:r>
              <a:rPr lang="en-SG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Industry </a:t>
            </a:r>
            <a:r>
              <a:rPr lang="en-SG" sz="1000" b="0" i="0" u="none" strike="noStrike" baseline="0" dirty="0" err="1">
                <a:solidFill>
                  <a:srgbClr val="404040"/>
                </a:solidFill>
                <a:latin typeface="Century Gothic" panose="020B0502020202020204" pitchFamily="34" charset="0"/>
              </a:rPr>
              <a:t>Format:Industrial</a:t>
            </a:r>
            <a:r>
              <a:rPr lang="en-SG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 (</a:t>
            </a:r>
            <a:r>
              <a:rPr lang="en-SG" sz="1000" b="0" i="0" u="none" strike="noStrike" baseline="0" dirty="0">
                <a:solidFill>
                  <a:srgbClr val="FF0000"/>
                </a:solidFill>
                <a:latin typeface="Century Gothic" panose="020B0502020202020204" pitchFamily="34" charset="0"/>
              </a:rPr>
              <a:t>INDL</a:t>
            </a:r>
            <a:r>
              <a:rPr lang="en-SG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) / Financial (</a:t>
            </a:r>
            <a:r>
              <a:rPr lang="en-SG" sz="1000" b="0" i="0" u="none" strike="noStrike" baseline="0" dirty="0">
                <a:solidFill>
                  <a:srgbClr val="FF0000"/>
                </a:solidFill>
                <a:latin typeface="Century Gothic" panose="020B0502020202020204" pitchFamily="34" charset="0"/>
              </a:rPr>
              <a:t>FS</a:t>
            </a:r>
            <a:r>
              <a:rPr lang="en-SG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)</a:t>
            </a:r>
          </a:p>
          <a:p>
            <a:endParaRPr lang="en-SG" sz="10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r>
              <a:rPr lang="en-SG" sz="1000" b="0" i="0" u="none" strike="noStrike" baseline="0" dirty="0">
                <a:solidFill>
                  <a:srgbClr val="B31165"/>
                </a:solidFill>
                <a:latin typeface="Arial" panose="020B0604020202020204" pitchFamily="34" charset="0"/>
              </a:rPr>
              <a:t>•</a:t>
            </a:r>
            <a:r>
              <a:rPr lang="en-SG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Data Format: Standard (</a:t>
            </a:r>
            <a:r>
              <a:rPr lang="en-SG" sz="1000" b="0" i="0" u="none" strike="noStrike" baseline="0" dirty="0">
                <a:solidFill>
                  <a:srgbClr val="FF0000"/>
                </a:solidFill>
                <a:latin typeface="Century Gothic" panose="020B0502020202020204" pitchFamily="34" charset="0"/>
              </a:rPr>
              <a:t>STD</a:t>
            </a:r>
            <a:r>
              <a:rPr lang="en-SG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) / Summary (</a:t>
            </a:r>
            <a:r>
              <a:rPr lang="en-SG" sz="1000" b="0" i="0" u="none" strike="noStrike" baseline="0" dirty="0">
                <a:solidFill>
                  <a:srgbClr val="FF0000"/>
                </a:solidFill>
                <a:latin typeface="Century Gothic" panose="020B0502020202020204" pitchFamily="34" charset="0"/>
              </a:rPr>
              <a:t>SUMM_STD</a:t>
            </a:r>
            <a:r>
              <a:rPr lang="en-SG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) / etc.</a:t>
            </a:r>
          </a:p>
          <a:p>
            <a:endParaRPr lang="en-SG" sz="10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r>
              <a:rPr lang="fr-FR" sz="1000" b="0" i="0" u="none" strike="noStrike" baseline="0" dirty="0">
                <a:solidFill>
                  <a:srgbClr val="B31165"/>
                </a:solidFill>
                <a:latin typeface="Arial" panose="020B0604020202020204" pitchFamily="34" charset="0"/>
              </a:rPr>
              <a:t>•</a:t>
            </a:r>
            <a:r>
              <a:rPr lang="fr-FR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Population Source: Domestic (</a:t>
            </a:r>
            <a:r>
              <a:rPr lang="fr-FR" sz="1000" b="0" i="0" u="none" strike="noStrike" baseline="0" dirty="0">
                <a:solidFill>
                  <a:srgbClr val="FF0000"/>
                </a:solidFill>
                <a:latin typeface="Century Gothic" panose="020B0502020202020204" pitchFamily="34" charset="0"/>
              </a:rPr>
              <a:t>D</a:t>
            </a:r>
            <a:r>
              <a:rPr lang="fr-FR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) / International (</a:t>
            </a:r>
            <a:r>
              <a:rPr lang="fr-FR" sz="1000" b="0" i="0" u="none" strike="noStrike" baseline="0" dirty="0">
                <a:solidFill>
                  <a:srgbClr val="FF0000"/>
                </a:solidFill>
                <a:latin typeface="Century Gothic" panose="020B0502020202020204" pitchFamily="34" charset="0"/>
              </a:rPr>
              <a:t>I</a:t>
            </a:r>
            <a:r>
              <a:rPr lang="fr-FR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)</a:t>
            </a:r>
          </a:p>
          <a:p>
            <a:endParaRPr lang="en-SG" sz="10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r>
              <a:rPr lang="en-US" sz="1000" b="0" i="0" u="none" strike="noStrike" baseline="0" dirty="0">
                <a:solidFill>
                  <a:srgbClr val="B31165"/>
                </a:solidFill>
                <a:latin typeface="Arial" panose="020B0604020202020204" pitchFamily="34" charset="0"/>
              </a:rPr>
              <a:t>•</a:t>
            </a:r>
            <a:r>
              <a:rPr lang="en-US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Company Status: Active (</a:t>
            </a:r>
            <a:r>
              <a:rPr lang="en-US" sz="1000" b="0" i="0" u="none" strike="noStrike" baseline="0" dirty="0">
                <a:solidFill>
                  <a:srgbClr val="FF0000"/>
                </a:solidFill>
                <a:latin typeface="Century Gothic" panose="020B0502020202020204" pitchFamily="34" charset="0"/>
              </a:rPr>
              <a:t>A</a:t>
            </a:r>
            <a:r>
              <a:rPr lang="en-US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) / Inactive (</a:t>
            </a:r>
            <a:r>
              <a:rPr lang="en-US" sz="1000" b="0" i="0" u="none" strike="noStrike" baseline="0" dirty="0">
                <a:solidFill>
                  <a:srgbClr val="FF0000"/>
                </a:solidFill>
                <a:latin typeface="Century Gothic" panose="020B0502020202020204" pitchFamily="34" charset="0"/>
              </a:rPr>
              <a:t>I</a:t>
            </a:r>
            <a:r>
              <a:rPr lang="en-US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)</a:t>
            </a:r>
          </a:p>
          <a:p>
            <a:endParaRPr lang="en-SG" sz="10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r>
              <a:rPr lang="en-SG" sz="1000" b="0" i="0" u="none" strike="noStrike" baseline="0" dirty="0">
                <a:solidFill>
                  <a:srgbClr val="B31165"/>
                </a:solidFill>
                <a:latin typeface="Arial" panose="020B0604020202020204" pitchFamily="34" charset="0"/>
              </a:rPr>
              <a:t>•</a:t>
            </a:r>
            <a:r>
              <a:rPr lang="en-SG" sz="10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Data Items / Footnotes / Data Codes</a:t>
            </a:r>
          </a:p>
        </p:txBody>
      </p:sp>
    </p:spTree>
    <p:extLst>
      <p:ext uri="{BB962C8B-B14F-4D97-AF65-F5344CB8AC3E}">
        <p14:creationId xmlns:p14="http://schemas.microsoft.com/office/powerpoint/2010/main" val="7275826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B2251-03BC-3F01-AB12-8C4CA8DF5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79256-D18F-B90C-0844-AC701055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Accounting and Financial Data in COMPUSTAT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BE76FE-0F85-BC9B-9F65-9C4CEE7A0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263"/>
            <a:ext cx="4610100" cy="191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139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DE3DD-4856-8EB9-F903-F12CCC843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3EE94-73E9-F418-7F4D-B0105B5D5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LSEG ESG Scores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51BA31-43AF-4169-E17B-6DDD4FF14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510921"/>
            <a:ext cx="3264061" cy="165518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328AD05-3B85-1C30-98B3-2D83307E5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61985"/>
              </p:ext>
            </p:extLst>
          </p:nvPr>
        </p:nvGraphicFramePr>
        <p:xfrm>
          <a:off x="357314" y="2290007"/>
          <a:ext cx="3895472" cy="1113841"/>
        </p:xfrm>
        <a:graphic>
          <a:graphicData uri="http://schemas.openxmlformats.org/drawingml/2006/table">
            <a:tbl>
              <a:tblPr/>
              <a:tblGrid>
                <a:gridCol w="1609473">
                  <a:extLst>
                    <a:ext uri="{9D8B030D-6E8A-4147-A177-3AD203B41FA5}">
                      <a16:colId xmlns:a16="http://schemas.microsoft.com/office/drawing/2014/main" val="3265084341"/>
                    </a:ext>
                  </a:extLst>
                </a:gridCol>
                <a:gridCol w="2285999">
                  <a:extLst>
                    <a:ext uri="{9D8B030D-6E8A-4147-A177-3AD203B41FA5}">
                      <a16:colId xmlns:a16="http://schemas.microsoft.com/office/drawing/2014/main" val="4004629652"/>
                    </a:ext>
                  </a:extLst>
                </a:gridCol>
              </a:tblGrid>
              <a:tr h="151667">
                <a:tc>
                  <a:txBody>
                    <a:bodyPr/>
                    <a:lstStyle/>
                    <a:p>
                      <a:pPr algn="l" fontAlgn="t"/>
                      <a:r>
                        <a:rPr lang="en-SG" sz="800">
                          <a:effectLst/>
                        </a:rPr>
                        <a:t>Product:</a:t>
                      </a:r>
                    </a:p>
                  </a:txBody>
                  <a:tcPr marL="43028" marR="43028" marT="21514" marB="21514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SG" sz="800" u="none" strike="noStrike">
                          <a:solidFill>
                            <a:srgbClr val="004785"/>
                          </a:solidFill>
                          <a:effectLst/>
                          <a:hlinkClick r:id="rId3" tooltip="Refinitiv ESG Data"/>
                        </a:rPr>
                        <a:t>tr_esg</a:t>
                      </a:r>
                      <a:endParaRPr lang="en-SG" sz="800">
                        <a:effectLst/>
                      </a:endParaRPr>
                    </a:p>
                  </a:txBody>
                  <a:tcPr marL="43028" marR="43028" marT="21514" marB="21514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211805"/>
                  </a:ext>
                </a:extLst>
              </a:tr>
              <a:tr h="151667">
                <a:tc>
                  <a:txBody>
                    <a:bodyPr/>
                    <a:lstStyle/>
                    <a:p>
                      <a:pPr algn="l" fontAlgn="t"/>
                      <a:r>
                        <a:rPr lang="en-SG" sz="800">
                          <a:effectLst/>
                        </a:rPr>
                        <a:t>Library:</a:t>
                      </a:r>
                    </a:p>
                  </a:txBody>
                  <a:tcPr marL="43028" marR="43028" marT="21514" marB="21514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SG" sz="800">
                          <a:effectLst/>
                        </a:rPr>
                        <a:t>tresg</a:t>
                      </a:r>
                    </a:p>
                  </a:txBody>
                  <a:tcPr marL="43028" marR="43028" marT="21514" marB="21514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735070"/>
                  </a:ext>
                </a:extLst>
              </a:tr>
              <a:tr h="139944">
                <a:tc>
                  <a:txBody>
                    <a:bodyPr/>
                    <a:lstStyle/>
                    <a:p>
                      <a:pPr algn="l" fontAlgn="t"/>
                      <a:r>
                        <a:rPr lang="en-SG" sz="800">
                          <a:effectLst/>
                        </a:rPr>
                        <a:t>File:</a:t>
                      </a:r>
                    </a:p>
                  </a:txBody>
                  <a:tcPr marL="43028" marR="43028" marT="21514" marB="21514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SG" sz="800">
                          <a:effectLst/>
                        </a:rPr>
                        <a:t>wrds_ref_esg</a:t>
                      </a:r>
                    </a:p>
                  </a:txBody>
                  <a:tcPr marL="43028" marR="43028" marT="21514" marB="21514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464424"/>
                  </a:ext>
                </a:extLst>
              </a:tr>
              <a:tr h="151667">
                <a:tc>
                  <a:txBody>
                    <a:bodyPr/>
                    <a:lstStyle/>
                    <a:p>
                      <a:pPr algn="l" fontAlgn="t"/>
                      <a:r>
                        <a:rPr lang="en-SG" sz="800">
                          <a:effectLst/>
                        </a:rPr>
                        <a:t>Date Range:</a:t>
                      </a:r>
                    </a:p>
                  </a:txBody>
                  <a:tcPr marL="43028" marR="43028" marT="21514" marB="21514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SG" sz="800">
                          <a:effectLst/>
                        </a:rPr>
                        <a:t>Year (year): 2002-01-01 - 2025-05-06</a:t>
                      </a:r>
                    </a:p>
                  </a:txBody>
                  <a:tcPr marL="43028" marR="43028" marT="21514" marB="21514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74704"/>
                  </a:ext>
                </a:extLst>
              </a:tr>
              <a:tr h="172381">
                <a:tc>
                  <a:txBody>
                    <a:bodyPr/>
                    <a:lstStyle/>
                    <a:p>
                      <a:pPr algn="l" fontAlgn="t"/>
                      <a:r>
                        <a:rPr lang="en-SG" sz="800">
                          <a:effectLst/>
                        </a:rPr>
                        <a:t>Last Updated On:</a:t>
                      </a:r>
                    </a:p>
                  </a:txBody>
                  <a:tcPr marL="43028" marR="43028" marT="21514" marB="21514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SG" sz="800" dirty="0">
                          <a:effectLst/>
                        </a:rPr>
                        <a:t>2025-05-06</a:t>
                      </a:r>
                    </a:p>
                  </a:txBody>
                  <a:tcPr marL="43028" marR="43028" marT="21514" marB="21514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401897"/>
                  </a:ext>
                </a:extLst>
              </a:tr>
              <a:tr h="281668">
                <a:tc>
                  <a:txBody>
                    <a:bodyPr/>
                    <a:lstStyle/>
                    <a:p>
                      <a:pPr algn="l" fontAlgn="t"/>
                      <a:r>
                        <a:rPr lang="en-SG" sz="800" dirty="0">
                          <a:effectLst/>
                        </a:rPr>
                        <a:t>Update Frequency:</a:t>
                      </a:r>
                    </a:p>
                  </a:txBody>
                  <a:tcPr marL="43028" marR="43028" marT="21514" marB="21514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SG" sz="800" dirty="0">
                          <a:effectLst/>
                        </a:rPr>
                        <a:t>Quarterly</a:t>
                      </a:r>
                    </a:p>
                  </a:txBody>
                  <a:tcPr marL="43028" marR="43028" marT="21514" marB="21514">
                    <a:lnL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798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3528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7878D-7953-173B-E512-9C9B8396C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D5BC-0FF5-7D54-8719-45576A39C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LSEG ESG Scores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C52DA2-DCA8-BDD4-4EE3-BE4D40F2B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101" y="0"/>
            <a:ext cx="1659748" cy="3460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9D3384-A50A-67A1-73FD-5728C1A4FDE8}"/>
              </a:ext>
            </a:extLst>
          </p:cNvPr>
          <p:cNvSpPr txBox="1"/>
          <p:nvPr/>
        </p:nvSpPr>
        <p:spPr>
          <a:xfrm>
            <a:off x="99809" y="663575"/>
            <a:ext cx="23056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dirty="0"/>
              <a:t>Detailed definitions of the variables can be found in the excel file (note that some variables are inactive): </a:t>
            </a:r>
          </a:p>
          <a:p>
            <a:r>
              <a:rPr lang="en-SG" sz="1200" dirty="0">
                <a:hlinkClick r:id="rId3"/>
              </a:rPr>
              <a:t>https://wrds-www.wharton.upenn.edu/pages/get-data/lseg/refinitiv-esg/refinitiv-esg-scores/</a:t>
            </a:r>
            <a:endParaRPr lang="en-SG" sz="1200" dirty="0"/>
          </a:p>
          <a:p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21873042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651B0-5179-A30A-5170-E7C2C8DB0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D926-8BB8-F0F3-5B4C-9A51D9289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Accounting and Financial Data in COMPUSTAT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14066-60F4-1204-230D-F9088441A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824" y="511175"/>
            <a:ext cx="4438650" cy="3139321"/>
          </a:xfrm>
        </p:spPr>
        <p:txBody>
          <a:bodyPr/>
          <a:lstStyle/>
          <a:p>
            <a:r>
              <a:rPr lang="en-US" sz="12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Stock Tickers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: Exchange Specific, with Suffixes, </a:t>
            </a:r>
            <a:r>
              <a:rPr lang="en-US" sz="12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NOT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Permanent, and Recyclable</a:t>
            </a:r>
          </a:p>
          <a:p>
            <a:endParaRPr lang="en-US" sz="1200" dirty="0">
              <a:solidFill>
                <a:srgbClr val="B31165"/>
              </a:solidFill>
              <a:latin typeface="Arial" panose="020B0604020202020204" pitchFamily="34" charset="0"/>
            </a:endParaRPr>
          </a:p>
          <a:p>
            <a:r>
              <a:rPr lang="en-US" sz="12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CUSIP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also is </a:t>
            </a:r>
            <a:r>
              <a:rPr lang="en-US" sz="12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NOT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Permanent but Unique and </a:t>
            </a:r>
            <a:r>
              <a:rPr lang="en-US" sz="1200" b="0" i="1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NOT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Exchange Specific.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8- or 9-digit CUSIP is assigned for issues (e.g. equities and bonds).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6-digit CUSIP is assigned for issuers (e.g. firms)</a:t>
            </a:r>
          </a:p>
          <a:p>
            <a:endParaRPr lang="en-SG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r>
              <a:rPr lang="en-US" sz="12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CIK: US filing number at the SEC, and Changeable</a:t>
            </a:r>
            <a:endParaRPr lang="en-US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endParaRPr lang="en-US" sz="1200" dirty="0">
              <a:solidFill>
                <a:srgbClr val="B31165"/>
              </a:solidFill>
              <a:latin typeface="Arial" panose="020B0604020202020204" pitchFamily="34" charset="0"/>
            </a:endParaRPr>
          </a:p>
          <a:p>
            <a:r>
              <a:rPr lang="en-US" sz="1200" b="1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Company Names 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are often abbreviated/manipulated by data vendors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Very difficult to have a reliable merging code by using company names</a:t>
            </a:r>
          </a:p>
          <a:p>
            <a:endParaRPr lang="en-SG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endParaRPr lang="en-SG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411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21613-7AC1-AB26-030F-0F283E79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7AC76-912C-C31A-0E17-6CAD08099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A2FC3-E686-A5DC-0147-618D56FA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824" y="511175"/>
            <a:ext cx="4438650" cy="2400657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Clean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Drop funds, penny stocks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SG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Remove duplicated rows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404040"/>
                </a:solidFill>
                <a:latin typeface="Century Gothic" panose="020B0502020202020204" pitchFamily="34" charset="0"/>
              </a:rPr>
              <a:t>Drop utility and financial firms</a:t>
            </a:r>
            <a:endParaRPr lang="en-SG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Merge Data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CRSP &amp; </a:t>
            </a:r>
            <a:r>
              <a:rPr lang="en-US" sz="1200" b="0" i="0" u="none" strike="noStrike" baseline="0" dirty="0" err="1">
                <a:solidFill>
                  <a:srgbClr val="404040"/>
                </a:solidFill>
                <a:latin typeface="Century Gothic" panose="020B0502020202020204" pitchFamily="34" charset="0"/>
              </a:rPr>
              <a:t>Compustat</a:t>
            </a: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 from WRDS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SG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Identify unique key(s)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Create new variables: lead/lag, using rolling window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Create subsamples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523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A6A6E-9C23-B11B-280C-4FA49B646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50F35-CF14-36A6-04D4-791C122D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24164B-99E4-396A-00CE-49DF87A20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421812"/>
            <a:ext cx="2541612" cy="298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599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80E9C-0579-2CD9-983B-F3233368D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9763A-AE2F-D4BF-F2C9-61E6F4A79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E478A-52FC-693F-A80C-90FD4B775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739775"/>
            <a:ext cx="2743200" cy="9167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33AF19-4F01-33B7-75D1-B764D6CF2172}"/>
              </a:ext>
            </a:extLst>
          </p:cNvPr>
          <p:cNvSpPr txBox="1"/>
          <p:nvPr/>
        </p:nvSpPr>
        <p:spPr>
          <a:xfrm>
            <a:off x="64279" y="434975"/>
            <a:ext cx="4419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Set working directory to the folder with data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DED3FB-4C1B-1143-4F3E-A270058D2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16" y="1997494"/>
            <a:ext cx="4502929" cy="10282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B09625-8934-A7F1-1487-29F323686367}"/>
              </a:ext>
            </a:extLst>
          </p:cNvPr>
          <p:cNvSpPr txBox="1"/>
          <p:nvPr/>
        </p:nvSpPr>
        <p:spPr>
          <a:xfrm>
            <a:off x="64279" y="1684291"/>
            <a:ext cx="4419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Check data size and duplication</a:t>
            </a:r>
          </a:p>
        </p:txBody>
      </p:sp>
    </p:spTree>
    <p:extLst>
      <p:ext uri="{BB962C8B-B14F-4D97-AF65-F5344CB8AC3E}">
        <p14:creationId xmlns:p14="http://schemas.microsoft.com/office/powerpoint/2010/main" val="24797312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1F8E1-BF18-A6C8-6A47-0C56AA02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B2072-0F97-5827-909C-8E0A0152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CE9E03-1A37-3F30-1D35-8017880FF73B}"/>
              </a:ext>
            </a:extLst>
          </p:cNvPr>
          <p:cNvSpPr txBox="1"/>
          <p:nvPr/>
        </p:nvSpPr>
        <p:spPr>
          <a:xfrm>
            <a:off x="64279" y="434975"/>
            <a:ext cx="4419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Drop utility and financial industries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088E5-065C-7683-114D-0488F5C65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9" y="747717"/>
            <a:ext cx="4445779" cy="236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797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3BA8D-E435-8E75-2403-9C56B95F8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EFF29-14DA-F90A-EAE0-E0C06A527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445CC-D155-A70C-D886-759F306E40EA}"/>
              </a:ext>
            </a:extLst>
          </p:cNvPr>
          <p:cNvSpPr txBox="1"/>
          <p:nvPr/>
        </p:nvSpPr>
        <p:spPr>
          <a:xfrm>
            <a:off x="64279" y="434975"/>
            <a:ext cx="4419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Create variable using :=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4040"/>
                </a:solidFill>
                <a:latin typeface="Century Gothic" panose="020B0502020202020204" pitchFamily="34" charset="0"/>
              </a:rPr>
              <a:t>Change daily to monthly using mean() and/or sum()</a:t>
            </a:r>
            <a:endParaRPr lang="en-US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C43EFA-4CE5-3B66-E9D6-1C77AA3B3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968375"/>
            <a:ext cx="3886200" cy="216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2456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0541B-CE25-FE6D-E874-F48F0823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08AFB-FC31-E106-8B74-7B568F831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2E0ED-C36C-6C5B-C761-A542827576A8}"/>
              </a:ext>
            </a:extLst>
          </p:cNvPr>
          <p:cNvSpPr txBox="1"/>
          <p:nvPr/>
        </p:nvSpPr>
        <p:spPr>
          <a:xfrm>
            <a:off x="64279" y="434975"/>
            <a:ext cx="4419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Merge by company ID and year-month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2E20AF-89FB-829C-0E8A-73F8585EF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711974"/>
            <a:ext cx="3779028" cy="249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023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9C943-92D2-BC3C-C920-81E11501B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6907A-26B8-EBB8-71AA-03780FEA8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B29F5-420E-45AC-FD60-B12BF284835E}"/>
              </a:ext>
            </a:extLst>
          </p:cNvPr>
          <p:cNvSpPr txBox="1"/>
          <p:nvPr/>
        </p:nvSpPr>
        <p:spPr>
          <a:xfrm>
            <a:off x="64279" y="434975"/>
            <a:ext cx="4419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Dummy variables and linear regression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4320EA-2117-AC59-948C-38E26B695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3" y="739775"/>
            <a:ext cx="4465100" cy="238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0112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5D6F3-B8F2-4C9A-1679-633D34163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54F09-5635-7115-47A6-7FFA2EA68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54817E-D919-E0EE-751C-CAE5EA7AD39E}"/>
              </a:ext>
            </a:extLst>
          </p:cNvPr>
          <p:cNvSpPr txBox="1"/>
          <p:nvPr/>
        </p:nvSpPr>
        <p:spPr>
          <a:xfrm>
            <a:off x="64279" y="434975"/>
            <a:ext cx="4419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Fama-Macbeth regression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4040"/>
                </a:solidFill>
                <a:latin typeface="Century Gothic" panose="020B0502020202020204" pitchFamily="34" charset="0"/>
              </a:rPr>
              <a:t>Logit regression</a:t>
            </a:r>
            <a:endParaRPr lang="en-US" sz="12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5423F5-A00F-808D-C73A-1E6E70EFE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" y="896640"/>
            <a:ext cx="4610100" cy="92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7522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8F1D0-C811-4A25-CCD9-2760AAB92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DE6E4-505D-2125-C077-A712E2298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EE9CDB-66AA-AFA9-7C83-5780D44B0ECC}"/>
              </a:ext>
            </a:extLst>
          </p:cNvPr>
          <p:cNvSpPr txBox="1"/>
          <p:nvPr/>
        </p:nvSpPr>
        <p:spPr>
          <a:xfrm>
            <a:off x="64279" y="434975"/>
            <a:ext cx="4419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Sentiment Analysis: read an article from website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D78300-E02C-D0AE-42BD-7B6944A9B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6" y="711974"/>
            <a:ext cx="4610100" cy="237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108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6F80B-578A-6E87-850C-46F3B592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EC70C-11E8-FC2C-7345-639550D42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9758CD-6238-122F-630C-E86EC3BD0249}"/>
              </a:ext>
            </a:extLst>
          </p:cNvPr>
          <p:cNvSpPr txBox="1"/>
          <p:nvPr/>
        </p:nvSpPr>
        <p:spPr>
          <a:xfrm>
            <a:off x="64279" y="434975"/>
            <a:ext cx="4419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Sentiment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8AECE-BDE9-BC9F-6E52-644927073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6" y="711974"/>
            <a:ext cx="4610100" cy="23785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B1D092-E71E-A2AB-D0C5-835D7256D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8665"/>
            <a:ext cx="4610100" cy="270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751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13766-08FA-DA20-B8BC-042AEB30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F3488-D5EC-4E34-A7F6-F6DBC8E0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844571-FE18-EF5C-E6C2-872BAC2FD3E5}"/>
              </a:ext>
            </a:extLst>
          </p:cNvPr>
          <p:cNvSpPr txBox="1"/>
          <p:nvPr/>
        </p:nvSpPr>
        <p:spPr>
          <a:xfrm>
            <a:off x="64279" y="434975"/>
            <a:ext cx="4419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baseline="0" dirty="0">
                <a:solidFill>
                  <a:srgbClr val="404040"/>
                </a:solidFill>
                <a:latin typeface="Century Gothic" panose="020B0502020202020204" pitchFamily="34" charset="0"/>
              </a:rPr>
              <a:t>Sentiment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490B8B-0951-6ABC-BC7E-D1E5063FE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5" y="726425"/>
            <a:ext cx="2129493" cy="19589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1F3A16-95C8-D1DC-B97E-998C232E2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985" y="693985"/>
            <a:ext cx="2333115" cy="270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848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44B1B-2961-7F34-BE7B-548EBC9B7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3B03F-6072-C535-EF14-FBBC50BEC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B51900-F2B0-1A0A-5948-377166374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23" y="833335"/>
            <a:ext cx="4619801" cy="9843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B243EE7-D335-CB6D-C9AC-27C63107C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82775"/>
            <a:ext cx="2788140" cy="5922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9EF8A9E-A499-BC15-1B17-53CAD6332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775" y="1824564"/>
            <a:ext cx="1742954" cy="155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1360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4AB6A-9359-4631-20A9-B06094BE6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9548-BFF7-394D-32C9-95B82AF79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654895-8250-7894-34A4-A2E369B87A87}"/>
              </a:ext>
            </a:extLst>
          </p:cNvPr>
          <p:cNvSpPr txBox="1"/>
          <p:nvPr/>
        </p:nvSpPr>
        <p:spPr>
          <a:xfrm>
            <a:off x="64279" y="434975"/>
            <a:ext cx="4419599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dirty="0">
                <a:solidFill>
                  <a:srgbClr val="0070C0"/>
                </a:solidFill>
              </a:rPr>
              <a:t>Read Global Development Metrics through </a:t>
            </a:r>
            <a:r>
              <a:rPr lang="en-US" sz="1000" b="1" dirty="0" err="1">
                <a:solidFill>
                  <a:srgbClr val="0070C0"/>
                </a:solidFill>
              </a:rPr>
              <a:t>gapminder</a:t>
            </a:r>
            <a:r>
              <a:rPr lang="en-US" sz="1000" dirty="0">
                <a:solidFill>
                  <a:srgbClr val="0070C0"/>
                </a:solidFill>
              </a:rPr>
              <a:t> library</a:t>
            </a:r>
          </a:p>
          <a:p>
            <a:pPr>
              <a:spcBef>
                <a:spcPct val="50000"/>
              </a:spcBef>
            </a:pPr>
            <a:r>
              <a:rPr lang="en-US" sz="1000" dirty="0" err="1"/>
              <a:t>install.packages</a:t>
            </a:r>
            <a:r>
              <a:rPr lang="en-US" sz="1000" dirty="0"/>
              <a:t>("</a:t>
            </a:r>
            <a:r>
              <a:rPr lang="en-US" sz="1000" dirty="0" err="1"/>
              <a:t>tibble</a:t>
            </a:r>
            <a:r>
              <a:rPr lang="en-US" sz="1000" dirty="0"/>
              <a:t>")</a:t>
            </a:r>
          </a:p>
          <a:p>
            <a:pPr>
              <a:spcBef>
                <a:spcPct val="50000"/>
              </a:spcBef>
            </a:pPr>
            <a:r>
              <a:rPr lang="en-US" sz="1000" dirty="0"/>
              <a:t>library(</a:t>
            </a:r>
            <a:r>
              <a:rPr lang="en-US" sz="1000" dirty="0" err="1"/>
              <a:t>gapminder</a:t>
            </a:r>
            <a:r>
              <a:rPr lang="en-US" sz="1000" dirty="0"/>
              <a:t>)</a:t>
            </a:r>
          </a:p>
          <a:p>
            <a:pPr>
              <a:spcBef>
                <a:spcPct val="50000"/>
              </a:spcBef>
            </a:pPr>
            <a:r>
              <a:rPr lang="en-US" sz="1000" dirty="0" err="1"/>
              <a:t>gapminder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0070C0"/>
                </a:solidFill>
              </a:rPr>
              <a:t># life expectancy, GDP per capita, and population by country</a:t>
            </a:r>
            <a:endParaRPr lang="en-US" sz="1000" b="0" i="0" u="none" strike="noStrike" baseline="0" dirty="0">
              <a:solidFill>
                <a:srgbClr val="40404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E877F8-840D-4C76-302B-7301EE07B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9" y="1504452"/>
            <a:ext cx="3675096" cy="171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6737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477E7-ECD0-C854-6247-9ED7445E2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51549-09F8-BEEE-0360-EA641DC59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5579C5-B16B-A74C-D6CB-43555837B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58775"/>
            <a:ext cx="1905000" cy="11833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642BAD-F9BE-8388-2C61-5CBA1C499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807" y="358775"/>
            <a:ext cx="261496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6779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6DBDB-4FB4-4E15-AA13-41DF8A2F7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84" y="663575"/>
            <a:ext cx="2968249" cy="441325"/>
          </a:xfrm>
        </p:spPr>
        <p:txBody>
          <a:bodyPr>
            <a:normAutofit/>
          </a:bodyPr>
          <a:lstStyle/>
          <a:p>
            <a:r>
              <a:rPr lang="en-US" dirty="0"/>
              <a:t>Case2 Cigarette Consumption Panel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B7A39-F845-41C3-8B77-7C5A2C5C3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361" y="511175"/>
            <a:ext cx="1969754" cy="1313455"/>
          </a:xfrm>
        </p:spPr>
        <p:txBody>
          <a:bodyPr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State: Factor indicating state.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Year: Factor indicating year.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Cpi: Consumer price index.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Population: State population.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Packs: Number of packs per capita.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Income: State personal income (total, nominal).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Tax: Average state, federal and average local excise taxes for fiscal year.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Price: Average price during fiscal year, including sales tax.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Taxs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Average excise taxes for fiscal year, including sales tax.</a:t>
            </a:r>
          </a:p>
          <a:p>
            <a:pPr marL="171450" indent="-171450"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9ECD6D3-F290-4EC7-8EE4-F9D607E53509}"/>
              </a:ext>
            </a:extLst>
          </p:cNvPr>
          <p:cNvSpPr txBox="1">
            <a:spLocks/>
          </p:cNvSpPr>
          <p:nvPr/>
        </p:nvSpPr>
        <p:spPr>
          <a:xfrm>
            <a:off x="2407379" y="475780"/>
            <a:ext cx="1969754" cy="1313455"/>
          </a:xfrm>
          <a:prstGeom prst="rect">
            <a:avLst/>
          </a:prstGeom>
        </p:spPr>
        <p:txBody>
          <a:bodyPr vert="horz" lIns="34576" tIns="17288" rIns="34576" bIns="17288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per capita prices = price / cpi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real price = log(</a:t>
            </a:r>
            <a:r>
              <a:rPr lang="en-US" sz="10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rprice</a:t>
            </a:r>
            <a:r>
              <a:rPr lang="en-US" sz="1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tax = (</a:t>
            </a:r>
            <a:r>
              <a:rPr lang="en-US" sz="10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taxs</a:t>
            </a:r>
            <a:r>
              <a:rPr lang="en-US" sz="1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tax) / cpi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number of packs = log(packs)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Target: explain log number of packs (Y) using log real price (X)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price is highly correlated with sales tax, which is instrument (Z)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Solution: 2-stage regression where the second stage input is predicted X using Z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FFFFFF"/>
              </a:solidFill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2F82FF-40CD-2B8A-5324-838D7820D9CD}"/>
              </a:ext>
            </a:extLst>
          </p:cNvPr>
          <p:cNvSpPr txBox="1">
            <a:spLocks/>
          </p:cNvSpPr>
          <p:nvPr/>
        </p:nvSpPr>
        <p:spPr>
          <a:xfrm>
            <a:off x="171450" y="56902"/>
            <a:ext cx="4343399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kern="0">
                <a:latin typeface="Arial" panose="020B0604020202020204" pitchFamily="34" charset="0"/>
              </a:rPr>
              <a:t>R programming</a:t>
            </a:r>
            <a:endParaRPr lang="en-SG" kern="0" dirty="0"/>
          </a:p>
        </p:txBody>
      </p:sp>
    </p:spTree>
    <p:extLst>
      <p:ext uri="{BB962C8B-B14F-4D97-AF65-F5344CB8AC3E}">
        <p14:creationId xmlns:p14="http://schemas.microsoft.com/office/powerpoint/2010/main" val="27780855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ADF5D-8693-AA73-3C33-BBDDA835A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ACB00-AE4E-152C-3A02-F952D270D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44C1B3-B100-68BB-1099-7E6CA789E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391216"/>
            <a:ext cx="3048000" cy="1568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D3EEF8-059A-6890-4AC2-E273B7D95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2078561"/>
            <a:ext cx="4042380" cy="133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994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2B90F-2272-A984-48B1-529AB82C5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AB3E4-4F05-A4CF-A413-062998CAC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4C6E3A-428E-460A-D366-C373193F4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96" y="416807"/>
            <a:ext cx="2436626" cy="17686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711C6B-F5A2-A2BE-970F-F8CB36FF4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96" y="2329928"/>
            <a:ext cx="2435872" cy="10495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236F6C-F02C-7410-5F23-CE95F262863A}"/>
              </a:ext>
            </a:extLst>
          </p:cNvPr>
          <p:cNvSpPr txBox="1"/>
          <p:nvPr/>
        </p:nvSpPr>
        <p:spPr>
          <a:xfrm>
            <a:off x="2686050" y="450782"/>
            <a:ext cx="1828799" cy="1395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 &amp; Learning: 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simplicity, we study the relationship between price and sales in year 1995 only.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r>
              <a:rPr lang="en-US" sz="605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Instrument relevance condition</a:t>
            </a: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the instrument (the real sales tax per pack) correlates with the regressor (log real per capita prices), </a:t>
            </a:r>
            <a:r>
              <a:rPr lang="en-US" sz="605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ie</a:t>
            </a: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high correlation between X and Z.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stage is to run and predict X (log real per capita prices) using Z (real sales tax) as instrument 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r>
              <a:rPr lang="en-US" sz="605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vcovHC</a:t>
            </a: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Heteroskedasticity-Consistent Covariance Matrix Estimation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endParaRPr lang="en-US" sz="605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4EC8F7-389E-41FD-823C-98F34C2A794F}"/>
              </a:ext>
            </a:extLst>
          </p:cNvPr>
          <p:cNvSpPr txBox="1"/>
          <p:nvPr/>
        </p:nvSpPr>
        <p:spPr>
          <a:xfrm>
            <a:off x="2641011" y="2329928"/>
            <a:ext cx="1918876" cy="744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 &amp; Learning: 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predicted value of X (R code </a:t>
            </a:r>
            <a:r>
              <a:rPr lang="en-US" sz="605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fitted.values</a:t>
            </a: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605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a+bX</a:t>
            </a: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in the first stage would be saved and to be used in the second stage. 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stage is to run and predict number of packs using the predicted value from the first stage regression. </a:t>
            </a:r>
          </a:p>
        </p:txBody>
      </p:sp>
    </p:spTree>
    <p:extLst>
      <p:ext uri="{BB962C8B-B14F-4D97-AF65-F5344CB8AC3E}">
        <p14:creationId xmlns:p14="http://schemas.microsoft.com/office/powerpoint/2010/main" val="9299398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1698B-265B-5B5A-65B0-0CE89FCB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35D1-8F2F-7855-0D88-DC12A34CD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8349AF-A04A-8092-23D2-B3C672DC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70" y="840095"/>
            <a:ext cx="2566630" cy="874162"/>
          </a:xfrm>
          <a:prstGeom prst="rect">
            <a:avLst/>
          </a:prstGeom>
        </p:spPr>
      </p:pic>
      <p:sp>
        <p:nvSpPr>
          <p:cNvPr id="6" name="Text Box 123">
            <a:extLst>
              <a:ext uri="{FF2B5EF4-FFF2-40B4-BE49-F238E27FC236}">
                <a16:creationId xmlns:a16="http://schemas.microsoft.com/office/drawing/2014/main" id="{01FDD681-CF8C-55EE-E834-DDE78F7CB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26" y="569321"/>
            <a:ext cx="2522924" cy="197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681" dirty="0"/>
              <a:t>Perform IV regression (2-step in one model)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124801-53C6-F606-0CDF-05CDAF92DDBD}"/>
              </a:ext>
            </a:extLst>
          </p:cNvPr>
          <p:cNvSpPr txBox="1"/>
          <p:nvPr/>
        </p:nvSpPr>
        <p:spPr>
          <a:xfrm>
            <a:off x="153954" y="1806575"/>
            <a:ext cx="3461980" cy="37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 &amp; Learning: 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2-stage in </a:t>
            </a:r>
            <a:r>
              <a:rPr lang="en-US" sz="605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ivreg</a:t>
            </a: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where the IV </a:t>
            </a:r>
            <a:r>
              <a:rPr lang="en-US" sz="605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salestax</a:t>
            </a: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included after “|”.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endParaRPr lang="en-US" sz="605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9800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95E37-42CA-86F7-4461-28772862D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C27D-BD43-CE91-3FEB-3E0D52756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2A91E5-9D2B-E6E0-4BD1-D03DD7909C04}"/>
              </a:ext>
            </a:extLst>
          </p:cNvPr>
          <p:cNvSpPr txBox="1">
            <a:spLocks/>
          </p:cNvSpPr>
          <p:nvPr/>
        </p:nvSpPr>
        <p:spPr>
          <a:xfrm>
            <a:off x="60191" y="416919"/>
            <a:ext cx="2274226" cy="131345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>
              <a:defRPr sz="10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en-US" sz="80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Wage: Raw wages in 1976 (in cents per hour).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Education: Education in 1976 (in years).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Experience: Years of labor market experience, computed as age - education - 6.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Ethnicity: Is the individual African-American ("</a:t>
            </a:r>
            <a:r>
              <a:rPr lang="en-US" sz="800" kern="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afam</a:t>
            </a:r>
            <a:r>
              <a:rPr lang="en-US" sz="80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 or not ("other")?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kern="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Smsa</a:t>
            </a:r>
            <a:r>
              <a:rPr lang="en-US" sz="80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Does the individual reside in a SMSA (standard metropolitan statistical area) in 1976?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South: Factor. Does the individual reside in the South in 1976?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Age: Age in 1976 (in years).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kern="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Nearcollege</a:t>
            </a:r>
            <a:r>
              <a:rPr lang="en-US" sz="80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Did the individual grow up near a 4-year college?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kern="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Nearcollege</a:t>
            </a:r>
            <a:r>
              <a:rPr lang="en-US" sz="80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Did the individual grow up near a 2-year college?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kern="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Nearcollege</a:t>
            </a:r>
            <a:r>
              <a:rPr lang="en-US" sz="80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Did the individual near a 4-year public or private college?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kern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Enrolled: Is the individual enrolled in college in 1976?</a:t>
            </a:r>
          </a:p>
          <a:p>
            <a:pPr marL="228600" indent="-228600">
              <a:buFont typeface="+mj-lt"/>
              <a:buAutoNum type="arabicPeriod"/>
            </a:pPr>
            <a:endParaRPr lang="en-US" sz="800" kern="0" dirty="0">
              <a:solidFill>
                <a:srgbClr val="0070C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B2226C-D16C-8EE7-E391-80AF1E88E6CF}"/>
              </a:ext>
            </a:extLst>
          </p:cNvPr>
          <p:cNvSpPr txBox="1">
            <a:spLocks/>
          </p:cNvSpPr>
          <p:nvPr/>
        </p:nvSpPr>
        <p:spPr>
          <a:xfrm>
            <a:off x="2348608" y="416918"/>
            <a:ext cx="2201301" cy="1313455"/>
          </a:xfrm>
          <a:prstGeom prst="rect">
            <a:avLst/>
          </a:prstGeom>
        </p:spPr>
        <p:txBody>
          <a:bodyPr vert="horz" lIns="34576" tIns="17288" rIns="34576" bIns="17288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Bef>
                <a:spcPts val="0"/>
              </a:spcBef>
              <a:buFont typeface="+mj-lt"/>
              <a:buAutoNum type="arabicPeriod" startAt="12"/>
            </a:pPr>
            <a:r>
              <a:rPr lang="en-US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Married: Is the individual married in 1976?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12"/>
            </a:pPr>
            <a:r>
              <a:rPr lang="en-US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Education: Education in 1966 (in years).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12"/>
            </a:pPr>
            <a:r>
              <a:rPr lang="en-US" sz="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Smsa</a:t>
            </a:r>
            <a:r>
              <a:rPr lang="en-US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Does the individual reside in a SMSA in 1966?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12"/>
            </a:pPr>
            <a:r>
              <a:rPr lang="en-US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South: Does the individual reside in the South in 1966?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12"/>
            </a:pPr>
            <a:r>
              <a:rPr lang="en-US" sz="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Feducation</a:t>
            </a:r>
            <a:r>
              <a:rPr lang="en-US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Father's educational attainment (in years). Imputed with average if missing.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12"/>
            </a:pPr>
            <a:r>
              <a:rPr lang="en-US" sz="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Meducation</a:t>
            </a:r>
            <a:r>
              <a:rPr lang="en-US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Mother's educational attainment (in years). Imputed with average if missing.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12"/>
            </a:pPr>
            <a:r>
              <a:rPr lang="en-US" sz="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Fameducation</a:t>
            </a:r>
            <a:r>
              <a:rPr lang="en-US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Ordered factor coding family education class (from 1 to 9).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12"/>
            </a:pPr>
            <a:r>
              <a:rPr lang="en-US" sz="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Kww</a:t>
            </a:r>
            <a:r>
              <a:rPr lang="en-US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Knowledge world of work (KWW) score.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12"/>
            </a:pPr>
            <a:r>
              <a:rPr lang="en-US" sz="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Iq</a:t>
            </a:r>
            <a:r>
              <a:rPr lang="en-US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Normed intelligence quotient (IQ) score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12"/>
            </a:pPr>
            <a:r>
              <a:rPr lang="en-US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Parents: Factor coding living with parents at age 14: both parents, single mother, step parent, other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12"/>
            </a:pPr>
            <a:r>
              <a:rPr lang="en-US" sz="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Library: Was there a library card in home at age 14?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12"/>
            </a:pPr>
            <a:endParaRPr lang="en-US" sz="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6789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24E36-E746-8EE6-248D-A2377AA3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E3542-16A2-2FD4-4501-B076C5271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55D125-5EB2-CFB1-C8FB-518202305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28389"/>
            <a:ext cx="3825496" cy="768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2FE65F-ECA7-5581-A060-802F1E8FD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1425575"/>
            <a:ext cx="2818422" cy="17106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DBF5E6-4F11-0315-CBDB-466BF4DB674B}"/>
              </a:ext>
            </a:extLst>
          </p:cNvPr>
          <p:cNvSpPr txBox="1"/>
          <p:nvPr/>
        </p:nvSpPr>
        <p:spPr>
          <a:xfrm>
            <a:off x="2914650" y="1427855"/>
            <a:ext cx="1438785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 &amp; Learning: 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Poly(experience, 2) is to compute 2-degree orthogonal polynomials of experience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Coefficient of education is 7%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of the quadratic component of experience is statistically strong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endParaRPr lang="en-US" sz="605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42" indent="-108042">
              <a:buFont typeface="Arial" panose="020B0604020202020204" pitchFamily="34" charset="0"/>
              <a:buChar char="•"/>
            </a:pPr>
            <a:endParaRPr lang="en-US" sz="605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5996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F86FE-463D-09E0-637F-FC7B0A636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E7F28-31B9-3A6A-C39E-2CF6111F3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56902"/>
            <a:ext cx="4343399" cy="215444"/>
          </a:xfrm>
        </p:spPr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R programming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D9F1E-9905-BBF4-C027-7994A6A98D51}"/>
              </a:ext>
            </a:extLst>
          </p:cNvPr>
          <p:cNvSpPr txBox="1"/>
          <p:nvPr/>
        </p:nvSpPr>
        <p:spPr>
          <a:xfrm>
            <a:off x="2640046" y="358775"/>
            <a:ext cx="1896675" cy="83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 &amp; Learning: 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could be multiple Instrumental variables in the regression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Coefficient of education is 13.3% per year, which is larger than the 7%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of the quadratic component of experience is weaker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endParaRPr lang="en-US" sz="605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21B8A-2C66-A8C8-33AE-319E5F1C3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58775"/>
            <a:ext cx="2522924" cy="1795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EFCE25-7557-B02A-0308-F7629E713D5E}"/>
              </a:ext>
            </a:extLst>
          </p:cNvPr>
          <p:cNvSpPr txBox="1"/>
          <p:nvPr/>
        </p:nvSpPr>
        <p:spPr>
          <a:xfrm>
            <a:off x="179211" y="2623010"/>
            <a:ext cx="1905000" cy="83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 &amp; Learning: 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could be multiple Instrumental variables in the regression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Coefficient of education is 13.3% per year, which is larger than the 7%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r>
              <a:rPr lang="en-US" sz="605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of the quadratic component of experience is weaker</a:t>
            </a:r>
          </a:p>
          <a:p>
            <a:pPr marL="108042" indent="-108042">
              <a:buFont typeface="Arial" panose="020B0604020202020204" pitchFamily="34" charset="0"/>
              <a:buChar char="•"/>
            </a:pPr>
            <a:endParaRPr lang="en-US" sz="605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184016-5387-8052-6147-3E8A48AC7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0" y="1638355"/>
            <a:ext cx="3598989" cy="179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727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1994" y="55420"/>
            <a:ext cx="270764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SG" spc="-55" dirty="0"/>
              <a:t>Seminar Activity</a:t>
            </a:r>
            <a:endParaRPr spc="-50" dirty="0"/>
          </a:p>
        </p:txBody>
      </p:sp>
      <p:sp>
        <p:nvSpPr>
          <p:cNvPr id="29" name="object 3">
            <a:extLst>
              <a:ext uri="{FF2B5EF4-FFF2-40B4-BE49-F238E27FC236}">
                <a16:creationId xmlns:a16="http://schemas.microsoft.com/office/drawing/2014/main" id="{7D63056E-CC2C-4D74-5D98-59FEF9B222DA}"/>
              </a:ext>
            </a:extLst>
          </p:cNvPr>
          <p:cNvSpPr txBox="1"/>
          <p:nvPr/>
        </p:nvSpPr>
        <p:spPr>
          <a:xfrm>
            <a:off x="0" y="387159"/>
            <a:ext cx="4572000" cy="13125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5420" indent="-121920">
              <a:lnSpc>
                <a:spcPct val="100000"/>
              </a:lnSpc>
              <a:spcBef>
                <a:spcPts val="95"/>
              </a:spcBef>
              <a:buClr>
                <a:srgbClr val="091E4F"/>
              </a:buClr>
              <a:buSzPct val="90000"/>
              <a:buChar char="•"/>
              <a:tabLst>
                <a:tab pos="185420" algn="l"/>
              </a:tabLst>
            </a:pPr>
            <a:r>
              <a:rPr lang="en-SG" sz="1000" spc="-25" dirty="0">
                <a:latin typeface="Arial"/>
                <a:cs typeface="Arial"/>
              </a:rPr>
              <a:t>Download 10 companies’ spread, turnover and return (daily) and find the annual Spread and Turnover (mean) and RET (sum)</a:t>
            </a:r>
          </a:p>
          <a:p>
            <a:pPr marL="185420" indent="-121920">
              <a:lnSpc>
                <a:spcPct val="100000"/>
              </a:lnSpc>
              <a:spcBef>
                <a:spcPts val="95"/>
              </a:spcBef>
              <a:buClr>
                <a:srgbClr val="091E4F"/>
              </a:buClr>
              <a:buSzPct val="90000"/>
              <a:buChar char="•"/>
              <a:tabLst>
                <a:tab pos="185420" algn="l"/>
              </a:tabLst>
            </a:pPr>
            <a:r>
              <a:rPr lang="en-SG" sz="1000" spc="-25" dirty="0">
                <a:latin typeface="Arial"/>
                <a:cs typeface="Arial"/>
              </a:rPr>
              <a:t>Download 10 companies’ SIZE (log of market capitalization), leverage (TLTA), revenue (SALETA) (annual), industry code (sic), merge data by year</a:t>
            </a:r>
          </a:p>
          <a:p>
            <a:pPr marL="185420" indent="-121920">
              <a:lnSpc>
                <a:spcPct val="100000"/>
              </a:lnSpc>
              <a:spcBef>
                <a:spcPts val="95"/>
              </a:spcBef>
              <a:buClr>
                <a:srgbClr val="091E4F"/>
              </a:buClr>
              <a:buSzPct val="90000"/>
              <a:buChar char="•"/>
              <a:tabLst>
                <a:tab pos="185420" algn="l"/>
              </a:tabLst>
            </a:pPr>
            <a:r>
              <a:rPr lang="en-SG" sz="1000" spc="-25" dirty="0">
                <a:latin typeface="Arial"/>
                <a:cs typeface="Arial"/>
              </a:rPr>
              <a:t>Find the future return of the firm (RET1)</a:t>
            </a:r>
          </a:p>
          <a:p>
            <a:pPr marL="185420" indent="-121920">
              <a:lnSpc>
                <a:spcPct val="100000"/>
              </a:lnSpc>
              <a:spcBef>
                <a:spcPts val="95"/>
              </a:spcBef>
              <a:buClr>
                <a:srgbClr val="091E4F"/>
              </a:buClr>
              <a:buSzPct val="90000"/>
              <a:buChar char="•"/>
              <a:tabLst>
                <a:tab pos="185420" algn="l"/>
              </a:tabLst>
            </a:pPr>
            <a:r>
              <a:rPr lang="en-SG" sz="1000" spc="-25" dirty="0">
                <a:latin typeface="Arial"/>
                <a:cs typeface="Arial"/>
              </a:rPr>
              <a:t>Find the correlation matrix including the following variables:  RET1, RET, Spread, Turnover, SIZE, TLTA, SALETA and sic, and run three regression models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91E4F"/>
              </a:buClr>
            </a:pPr>
            <a:endParaRPr sz="1200" dirty="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7D3A15-93EE-6A17-7A47-6F69CB238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566154"/>
            <a:ext cx="2788428" cy="183917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5077</TotalTime>
  <Words>2418</Words>
  <Application>Microsoft Office PowerPoint</Application>
  <PresentationFormat>Custom</PresentationFormat>
  <Paragraphs>294</Paragraphs>
  <Slides>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Helvetica Neue</vt:lpstr>
      <vt:lpstr>Aptos</vt:lpstr>
      <vt:lpstr>Arial</vt:lpstr>
      <vt:lpstr>Calibri</vt:lpstr>
      <vt:lpstr>Century Gothic</vt:lpstr>
      <vt:lpstr>Lato</vt:lpstr>
      <vt:lpstr>Office Theme</vt:lpstr>
      <vt:lpstr>ACC3018 Applied Analytics Capstone  Seminar 4</vt:lpstr>
      <vt:lpstr>Agenda</vt:lpstr>
      <vt:lpstr>Databases</vt:lpstr>
      <vt:lpstr>PowerPoint Presentation</vt:lpstr>
      <vt:lpstr>CRSP Page</vt:lpstr>
      <vt:lpstr>CRSP Stock/Security Files Page</vt:lpstr>
      <vt:lpstr>CRSP Monthly Stock Data Query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Stock Market Data in CRSP</vt:lpstr>
      <vt:lpstr>Stock Market Data in CRSP</vt:lpstr>
      <vt:lpstr>Stock Market Data in CRSP</vt:lpstr>
      <vt:lpstr>Stock Market Data in CRSP</vt:lpstr>
      <vt:lpstr>Stock Market Data in CRSP</vt:lpstr>
      <vt:lpstr>Accounting and Financial Data in COMPUSTAT</vt:lpstr>
      <vt:lpstr>Accounting and Financial Data in COMPUSTAT</vt:lpstr>
      <vt:lpstr>Accounting and Financial Data in COMPUSTAT</vt:lpstr>
      <vt:lpstr>Accounting and Financial Data in COMPUSTAT</vt:lpstr>
      <vt:lpstr>Accounting and Financial Data in COMPUSTAT</vt:lpstr>
      <vt:lpstr>Accounting and Financial Data in COMPUSTAT</vt:lpstr>
      <vt:lpstr>Accounting and Financial Data in COMPUSTAT</vt:lpstr>
      <vt:lpstr>Accounting and Financial Data in COMPUSTAT</vt:lpstr>
      <vt:lpstr>LSEG ESG Scores</vt:lpstr>
      <vt:lpstr>LSEG ESG Scores</vt:lpstr>
      <vt:lpstr>Accounting and Financial Data in COMPUSTAT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Case2 Cigarette Consumption Panel Data</vt:lpstr>
      <vt:lpstr>R programming</vt:lpstr>
      <vt:lpstr>R programming</vt:lpstr>
      <vt:lpstr>R programming</vt:lpstr>
      <vt:lpstr>R programming</vt:lpstr>
      <vt:lpstr>R programming</vt:lpstr>
      <vt:lpstr>R programming</vt:lpstr>
      <vt:lpstr>Seminar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Endogeneity and instrumental variables - ECON306  Slides 4  Studenmund Ch. 6 and 14</dc:title>
  <dc:creator>Bruno Salcedo</dc:creator>
  <cp:keywords>()</cp:keywords>
  <cp:lastModifiedBy>Phoebe Gao Fei</cp:lastModifiedBy>
  <cp:revision>135</cp:revision>
  <dcterms:created xsi:type="dcterms:W3CDTF">2024-06-02T11:08:18Z</dcterms:created>
  <dcterms:modified xsi:type="dcterms:W3CDTF">2025-05-23T02:28:57Z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2014-06-16T00:00:00Z</vt:filetime>
  </property>
  <property fmtid="{D5CDD505-2E9C-101B-9397-08002B2CF9AE}" pid="3" name="Creator">
    <vt:lpwstr>LaTeX with Beamer class version 3.10</vt:lpwstr>
  </property>
  <property fmtid="{D5CDD505-2E9C-101B-9397-08002B2CF9AE}" pid="4" name="LastSaved">
    <vt:filetime>2024-06-02T00:00:00Z</vt:filetime>
  </property>
  <property fmtid="{D5CDD505-2E9C-101B-9397-08002B2CF9AE}" pid="5" name="MSIP_Label_3ef8e180-8f22-4ead-b44a-2d560df875da_Enabled">
    <vt:lpwstr>true</vt:lpwstr>
  </property>
  <property fmtid="{D5CDD505-2E9C-101B-9397-08002B2CF9AE}" pid="6" name="MSIP_Label_3ef8e180-8f22-4ead-b44a-2d560df875da_SetDate">
    <vt:lpwstr>2024-06-02T11:12:52Z</vt:lpwstr>
  </property>
  <property fmtid="{D5CDD505-2E9C-101B-9397-08002B2CF9AE}" pid="7" name="MSIP_Label_3ef8e180-8f22-4ead-b44a-2d560df875da_Method">
    <vt:lpwstr>Privileged</vt:lpwstr>
  </property>
  <property fmtid="{D5CDD505-2E9C-101B-9397-08002B2CF9AE}" pid="8" name="MSIP_Label_3ef8e180-8f22-4ead-b44a-2d560df875da_Name">
    <vt:lpwstr>Public</vt:lpwstr>
  </property>
  <property fmtid="{D5CDD505-2E9C-101B-9397-08002B2CF9AE}" pid="9" name="MSIP_Label_3ef8e180-8f22-4ead-b44a-2d560df875da_SiteId">
    <vt:lpwstr>64991f7f-44d6-4d8c-9cd4-7862e8cb94c6</vt:lpwstr>
  </property>
  <property fmtid="{D5CDD505-2E9C-101B-9397-08002B2CF9AE}" pid="10" name="MSIP_Label_3ef8e180-8f22-4ead-b44a-2d560df875da_ActionId">
    <vt:lpwstr>cf870509-3770-48f9-a0b3-67beec55fefa</vt:lpwstr>
  </property>
  <property fmtid="{D5CDD505-2E9C-101B-9397-08002B2CF9AE}" pid="11" name="MSIP_Label_3ef8e180-8f22-4ead-b44a-2d560df875da_ContentBits">
    <vt:lpwstr>0</vt:lpwstr>
  </property>
</Properties>
</file>